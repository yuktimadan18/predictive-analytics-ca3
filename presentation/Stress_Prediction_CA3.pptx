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5CBFF36-8168-0D9D-191A-CBA94BCCE7F9}">
          <p14:sldIdLst>
            <p14:sldId id="256"/>
            <p14:sldId id="257"/>
            <p14:sldId id="258"/>
          </p14:sldIdLst>
        </p14:section>
        <p14:section name="Methodology" id="{02B9004A-A0AD-0F1E-4529-152EB0074D08}">
          <p14:sldIdLst>
            <p14:sldId id="259"/>
            <p14:sldId id="260"/>
            <p14:sldId id="261"/>
            <p14:sldId id="262"/>
            <p14:sldId id="263"/>
          </p14:sldIdLst>
        </p14:section>
        <p14:section name="Results" id="{983A7E3D-947F-F384-6E8D-AAE4EE85B91B}">
          <p14:sldIdLst>
            <p14:sldId id="264"/>
            <p14:sldId id="265"/>
            <p14:sldId id="266"/>
          </p14:sldIdLst>
        </p14:section>
        <p14:section name="Conclusion" id="{5FE00329-4CA3-1F25-0459-883C685606D2}">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1" d="100"/>
          <a:sy n="71" d="100"/>
        </p:scale>
        <p:origin x="1109" y="59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3743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ma'am. My name is Yukti Madan. My project is "Predicting Human Stress Level From Physiological Signals Using Machine Learning", for the Predictive Analytics CA-3 under Dr. Deepak Asudani.
In one sentence: I checked whether signals like heart activity and skin conductance can help a machine learning model tell a stressed state from a calm state, and I tested this on two real datasets and one synthetic dataset.
[TO DO BEFORE PRESENTING: replace the PRN placeholder on this slide with your actual PRN.]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person is stressed, the body reacts: heart rate changes, heart-rate variability changes, and the skin's electrical activity (called electrodermal activity, or EDA) changes. Our question is: can a machine learning model pick up these patterns?
The task is binary: calm state (called baseline in WESAD and relaxation in QoL_Stress) versus stress.
Our four objectives: build and evaluate binary classifiers; compare across three datasets; test on participants the model never saw during training; and understand strengths and limitations. The third objective is the important one, because a model that only works on people it has already seen is not very useful.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three datasets on purpose.
WESAD is a well-known research dataset: 2,575 windows with 144 predictors. QoL_Stress is a separate real dataset with different people and a different way of collecting data: 124 sessions and 25 primary physiological predictors. The third is a synthetic dataset that I generated myself: 2,500 observations and 10 features.
Why compare? WESAD shows how the method works in a controlled study. QoL_Stress checks whether the approach still works under a different protocol. Synthetic data lets us test the pipeline in a controlled, simulated setting, but it does NOT prove anything about real people.
One honest warning: these datasets differ in size, protocol, features and what one row means (a window versus a session). So I compare them side by side, but I do not claim the scores are a perfectly fair head-to-head comparison.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KDD means Knowledge Discovery in Databases. It is just a structured recipe for getting useful patterns out of data, in five steps.
1. Selection: pick the data that is relevant, for example only baseline and stress, not amusement.
2. Preprocessing: clean the data and arrange it so a model can use it.
3. Feature engineering: turn raw signals into numbers a model can learn from, like mean and standard deviation.
4. Model training: fit the classifiers.
5. Evaluation and interpretation: test the models on people they have not seen and explain what the scores mean.
I follow the same five steps for all three datasets, which keeps the work organised and consistent.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Selection: WESAD has three states: baseline, stress and amusement. My task is binary, so I kept baseline and stress and excluded amusement.
Preprocessing: the continuous recordings were cut into fixed 60-second windows, moving forward every 10 seconds, so neighbouring windows overlap a lot (about 83%). Windows that mix two conditions were left out. This overlap is exactly why I used participant-level validation: two neighbouring windows from the same person look very similar, so a random split would leak information.
Feature engineering: for each of 16 physiological channels I calculated nine simple statistics, such as mean, standard deviation, minimum, maximum and percentiles. 9 times 16 gives 144 predictors per window.
Modeling and evaluation: three classifiers, tested with Leave-One-Subject-Out.
Dataset size: 2,575 windows from 15 participants, 1,671 baseline and 904 stress, so about 65% baseline and 35% stress. That mild imbalance is why I do not rely on plain accuracy.
[VERIFY: the 60 s / 10 s windowing and the 16 chest+wrist channels come from your report; confirm in the notebook. Your early project description planned chest-only signals and three classes, so make sure you describe the FINAL binary version.]
[FIGURE: insert your own class-distribution chart or preprocessing workflow figure in the placeholder.]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QoL_Stress is the second real dataset. Instead of continuous recordings cut into windows, each row is one session, so I did not use sliding windows here.
Selection: relaxation and stress sessions. Preprocessing: I prepared session-level records and removed variables that could be unsuitable or misleading. For example, a questionnaire completed after the condition could reveal the answer, so it must not be used as a predictor. Feature engineering: 25 primary physiological predictors, 15 from ECG/HRV and 10 from EDA.
The dataset has 124 sessions from 64 participants: 64 relaxation and 60 stress. Sixty participants did both conditions and four did only relaxation. Note that 124 sessions is not 124 independent people, so the effective sample is small.
Why it matters: it tests whether the approach works under a different protocol. The small size means the scores are less stable, so I interpret them cautiously.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synthetic dataset is a controlled experiment. I generated 2,500 observations with 10 features from 50 synthetic subjects, with 1,250 observations in each class. I compared the same three models, evaluated by leaving one synthetic subject out at a time.
The purpose is only to see how the models behave when I control the data. The limitation is very important: simulated patterns may not look like real human physiology. So I always report synthetic results separately and never claim they prove real-world performance.
[VERIFY: your report gives the counts but does not describe HOW the synthetic data was generated. Be ready to explain the generation logic from your notebook 4.]
[FIGURE: insert your workflow or class-distribution figure.]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models: Logistic Regression is a simple linear model; Random Forest is many decision trees voting together; HistGradientBoosting builds trees one after another, each fixing the previous one's mistakes. They represent three different learning styles.
Validation is Leave-One-Subject-Out, or LOSO. In each round, one participant is completely held out for testing, and the model trains on everyone else. We repeat until every eligible participant has been held out once. This measures how well the model works on a NEW person, which is what we really care about.
Leakage prevention: leakage means information from the test data sneaking into training and making scores look better than they are. I prevented it by (1) fitting the scaler only on the training fold, using a pipeline; (2) keeping participant IDs out of the predictors; and (3) excluding target-derived variables and window timestamps.
Train versus test: in LOSO, the held-out participant is the test fold. It is NOT a separate validation set. I do not claim a separate validation split, hyperparameter tuning or nested cross-validation.
[VERIFY: your report does not describe hyperparameter tuning or nested CV. If your notebook actually does any tuning, change the bottom box; if it does not, the slide is correct as written.]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just accuracy? If 65% of windows are baseline, a lazy model could look decent by favouring the big class. So I use several metrics.
Balanced accuracy: the average of recall on each class, so both classes count equally. Macro F1: F1 is the balance of precision and recall, averaged across both classes. Stress recall: out of all truly stressed cases, how many did we catch? ROC-AUC: if I pick one stress case and one baseline case at random, how often does the model give the stress case the higher score? PR-AUC: similar, but focused on the positive (stress) class and useful with imbalance.
Important detail: my scores are POOLED out-of-fold predictions. That means I collect the held-out predictions from every LOSO fold, put them together, and calculate each metric once. That is different from calculating a score in each fold and averaging. Some QoL_Stress folds have only one class, which makes certain fold-level metrics undefined, which is another reason pooled scores are used. I do not mix the two types of numbers.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real-data result, from pooled LOSO predictions on 2,575 WESAD windows.
HistGradientBoosting has the highest balanced accuracy (0.9311) and macro F1 (0.9384), and also the highest stress recall (0.8850) in this table. Random Forest has the highest ROC-AUC (0.9739). So I must NOT say "HistGradientBoosting was best in every metric". The honest statement is that it was best on balanced accuracy and macro F1, while Random Forest was best at ranking, in ROC-AUC.
Why can this happen? ROC-AUC looks at ranking over all thresholds. Balanced accuracy looks at actual yes/no decisions at the default threshold. From the confusion matrices in the report, Random Forest made very few false alarms (34) but missed more stress windows (181 missed), while HistGradientBoosting missed only 104.
Logistic Regression is simple but still caught about 85% of stress windows, more than Random Forest at about 80%.
[VERIFY: all numbers in this table match Table 4.1 of your report. Re-check them against your saved metrics file/notebook output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table, QoL_Stress (real data): Logistic Regression was best on all three metrics shown, with balanced accuracy 0.6203. That is only modestly above chance (0.5). HistGradientBoosting got a ROC-AUC of 0.4958, which is essentially chance level. Possible reasons, which I state as possibilities and not proven causes: only 124 sessions from 64 participants, a different protocol, and person-to-person differences. A simple model like Logistic Regression may cope better with a very small dataset.
Right table, synthetic data: scores around 0.88 to 0.90, with Logistic Regression best again. This only says the pipeline works on data I generated. It does NOT say the models would work this well on real people.
Overall takeaway: no single model was best everywhere. HistGradientBoosting led on WESAD for balanced accuracy and macro F1, and Logistic Regression led on QoL_Stress and synthetic data.
[VERIFY: values match Tables 4.3 and 4.5 of your report. Stress recall and PR-AUC also exist in the report if faculty ask: QoL_Stress stress recall is 0.6000 / 0.4833 / 0.4833 for LR / RF / HGB.]
[FIGURE: generate the grouped balanced-accuracy chart from your saved metrics (WESAD 0.9311 / 0.8897 / 0.8503; QoL 0.6203 / 0.5464 / 0.4917; synthetic 0.8964 / 0.8884 / 0.8836 for HGB-RF-LR as applicable) and insert it in the placeholder.]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in plain words: the datasets are different in size and design, so the scores are not a perfectly fair comparison. QoL_Stress is small, so its estimates are not very precise. In some QoL_Stress LOSO folds the held-out person has only one class, so certain per-fold metrics cannot be calculated, which is why I report pooled metrics. Synthetic data cannot replace real-world validation. And nothing here shows the model is ready for clinical use or works for everybody.
Conclusion: yes, physiological signals contain patterns that help separate stress from baseline or relaxation, strongly in WESAD and only modestly in QoL_Stress. Performance depends on the dataset. Evaluating on unseen participants and preventing leakage is essential for honest results. The next step is testing on larger, more diverse, independently collected datasets.
Thank you. I'm happy to take questions.
[VERIFY: full bibliographic details are in your report's reference list (entries [1], [2], [9], [10], [11]). Cross-check the Calvo et al. 2026 PhysioNet entry online.]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8F8F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908792" cy="822960"/>
          </a:xfrm>
          <a:prstGeom prst="rect">
            <a:avLst/>
          </a:prstGeom>
          <a:noFill/>
          <a:ln/>
        </p:spPr>
        <p:txBody>
          <a:bodyPr wrap="square" rtlCol="0"/>
          <a:lstStyle>
            <a:lvl1pPr marL="0" indent="0">
              <a:buNone/>
              <a:defRPr lang="en-US" sz="3400" b="1" dirty="0">
                <a:solidFill>
                  <a:schemeClr val="tx1"/>
                </a:solidFill>
              </a:defRPr>
            </a:lvl1pPr>
          </a:lstStyle>
          <a:p>
            <a:pPr marL="0" indent="0">
              <a:buNone/>
            </a:pPr>
            <a:endParaRPr lang="en-US" sz="3400" dirty="0"/>
          </a:p>
        </p:txBody>
      </p:sp>
      <p:sp>
        <p:nvSpPr>
          <p:cNvPr id="3" name="Text 0"/>
          <p:cNvSpPr/>
          <p:nvPr/>
        </p:nvSpPr>
        <p:spPr>
          <a:xfrm>
            <a:off x="640080" y="6428232"/>
            <a:ext cx="8229600" cy="274320"/>
          </a:xfrm>
          <a:prstGeom prst="rect">
            <a:avLst/>
          </a:prstGeom>
          <a:noFill/>
          <a:ln/>
        </p:spPr>
        <p:txBody>
          <a:bodyPr wrap="square" lIns="0" tIns="0" rIns="0" bIns="0" rtlCol="0" anchor="ctr"/>
          <a:lstStyle/>
          <a:p>
            <a:pPr marL="0" indent="0">
              <a:buNone/>
            </a:pPr>
            <a:r>
              <a:rPr lang="en-US" sz="1000" dirty="0">
                <a:solidFill>
                  <a:schemeClr val="tx2"/>
                </a:solidFill>
              </a:rPr>
              <a:t>Predictive Analytics — CA-3  |  Stress Prediction from Physiological Signals</a:t>
            </a:r>
            <a:endParaRPr lang="en-US" sz="1000" dirty="0"/>
          </a:p>
        </p:txBody>
      </p:sp>
      <p:sp>
        <p:nvSpPr>
          <p:cNvPr id="25" name="Slide Number Placeholder 0"/>
          <p:cNvSpPr>
            <a:spLocks noGrp="1"/>
          </p:cNvSpPr>
          <p:nvPr>
            <p:ph type="sldNum" sz="quarter" idx="4294967295"/>
          </p:nvPr>
        </p:nvSpPr>
        <p:spPr>
          <a:xfrm>
            <a:off x="10634472" y="642823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8F8F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234440"/>
            <a:ext cx="10424160" cy="1828800"/>
          </a:xfrm>
          <a:prstGeom prst="rect">
            <a:avLst/>
          </a:prstGeom>
          <a:noFill/>
          <a:ln/>
        </p:spPr>
        <p:txBody>
          <a:bodyPr wrap="square" rtlCol="0"/>
          <a:lstStyle>
            <a:lvl1pPr marL="0" indent="0">
              <a:buNone/>
              <a:defRPr lang="en-US" sz="3800" b="1" dirty="0">
                <a:solidFill>
                  <a:schemeClr val="tx1"/>
                </a:solidFill>
              </a:defRPr>
            </a:lvl1pPr>
          </a:lstStyle>
          <a:p>
            <a:pPr marL="0" indent="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34472" y="642823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731520"/>
            <a:ext cx="7315200" cy="320040"/>
          </a:xfrm>
          <a:prstGeom prst="rect">
            <a:avLst/>
          </a:prstGeom>
          <a:noFill/>
          <a:ln/>
        </p:spPr>
        <p:txBody>
          <a:bodyPr wrap="square" lIns="0" tIns="0" rIns="0" bIns="0" rtlCol="0" anchor="t"/>
          <a:lstStyle/>
          <a:p>
            <a:pPr marL="0" indent="0">
              <a:buNone/>
            </a:pPr>
            <a:r>
              <a:rPr lang="en-US" sz="1400" b="1" kern="0" spc="200" dirty="0">
                <a:solidFill>
                  <a:schemeClr val="accent1"/>
                </a:solidFill>
              </a:rPr>
              <a:t>PREDICTIVE ANALYTICS — CA-3</a:t>
            </a:r>
            <a:endParaRPr lang="en-US" sz="1400" dirty="0"/>
          </a:p>
        </p:txBody>
      </p:sp>
      <p:sp>
        <p:nvSpPr>
          <p:cNvPr id="3" name="Text 0"/>
          <p:cNvSpPr>
            <a:spLocks noGrp="1"/>
          </p:cNvSpPr>
          <p:nvPr>
            <p:ph type="title" idx="100" hasCustomPrompt="1"/>
          </p:nvPr>
        </p:nvSpPr>
        <p:spPr>
          <a:xfrm>
            <a:off x="640080" y="1234440"/>
            <a:ext cx="10424160" cy="1828800"/>
          </a:xfrm>
          <a:prstGeom prst="rect">
            <a:avLst/>
          </a:prstGeom>
          <a:noFill/>
          <a:ln/>
        </p:spPr>
        <p:txBody>
          <a:bodyPr wrap="square" lIns="0" tIns="0" rIns="0" bIns="0" rtlCol="0" anchor="t"/>
          <a:lstStyle/>
          <a:p>
            <a:pPr marL="0" indent="0">
              <a:buNone/>
            </a:pPr>
            <a:r>
              <a:rPr lang="en-US" sz="3800" b="1" dirty="0">
                <a:solidFill>
                  <a:schemeClr val="tx1"/>
                </a:solidFill>
              </a:rPr>
              <a:t>Predicting Human Stress Level From Physiological Signals Using Machine Learning</a:t>
            </a:r>
            <a:endParaRPr lang="en-US" sz="3800" dirty="0"/>
          </a:p>
        </p:txBody>
      </p:sp>
      <p:sp>
        <p:nvSpPr>
          <p:cNvPr id="4" name="Text 2"/>
          <p:cNvSpPr txBox="1"/>
          <p:nvPr/>
        </p:nvSpPr>
        <p:spPr>
          <a:xfrm>
            <a:off x="640080" y="3840480"/>
            <a:ext cx="3383280" cy="256032"/>
          </a:xfrm>
          <a:prstGeom prst="rect">
            <a:avLst/>
          </a:prstGeom>
          <a:noFill/>
          <a:ln/>
        </p:spPr>
        <p:txBody>
          <a:bodyPr wrap="square" lIns="0" tIns="0" rIns="0" bIns="0" rtlCol="0" anchor="t"/>
          <a:lstStyle/>
          <a:p>
            <a:pPr marL="0" indent="0">
              <a:buNone/>
            </a:pPr>
            <a:r>
              <a:rPr lang="en-US" sz="1200" b="1" kern="0" spc="100" dirty="0">
                <a:solidFill>
                  <a:schemeClr val="tx2"/>
                </a:solidFill>
              </a:rPr>
              <a:t>PRESENTED BY</a:t>
            </a:r>
            <a:endParaRPr lang="en-US" sz="1200" dirty="0"/>
          </a:p>
        </p:txBody>
      </p:sp>
      <p:sp>
        <p:nvSpPr>
          <p:cNvPr id="5" name="Text 3"/>
          <p:cNvSpPr txBox="1"/>
          <p:nvPr/>
        </p:nvSpPr>
        <p:spPr>
          <a:xfrm>
            <a:off x="640080" y="4133088"/>
            <a:ext cx="3383280" cy="685800"/>
          </a:xfrm>
          <a:prstGeom prst="rect">
            <a:avLst/>
          </a:prstGeom>
          <a:noFill/>
          <a:ln/>
        </p:spPr>
        <p:txBody>
          <a:bodyPr wrap="square" lIns="0" tIns="0" rIns="0" bIns="0" rtlCol="0" anchor="t"/>
          <a:lstStyle/>
          <a:p>
            <a:pPr marL="0" indent="0">
              <a:buNone/>
            </a:pPr>
            <a:r>
              <a:rPr lang="en-US" sz="1600" dirty="0">
                <a:solidFill>
                  <a:schemeClr val="tx1"/>
                </a:solidFill>
              </a:rPr>
              <a:t>Yukti Madan</a:t>
            </a:r>
            <a:endParaRPr lang="en-US" sz="1600" dirty="0"/>
          </a:p>
        </p:txBody>
      </p:sp>
      <p:sp>
        <p:nvSpPr>
          <p:cNvPr id="6" name="Text 4"/>
          <p:cNvSpPr txBox="1"/>
          <p:nvPr/>
        </p:nvSpPr>
        <p:spPr>
          <a:xfrm>
            <a:off x="4297680" y="3840480"/>
            <a:ext cx="3383280" cy="256032"/>
          </a:xfrm>
          <a:prstGeom prst="rect">
            <a:avLst/>
          </a:prstGeom>
          <a:noFill/>
          <a:ln/>
        </p:spPr>
        <p:txBody>
          <a:bodyPr wrap="square" lIns="0" tIns="0" rIns="0" bIns="0" rtlCol="0" anchor="t"/>
          <a:lstStyle/>
          <a:p>
            <a:pPr marL="0" indent="0">
              <a:buNone/>
            </a:pPr>
            <a:r>
              <a:rPr lang="en-US" sz="1200" b="1" kern="0" spc="100" dirty="0">
                <a:solidFill>
                  <a:schemeClr val="tx2"/>
                </a:solidFill>
              </a:rPr>
              <a:t>PRN</a:t>
            </a:r>
            <a:endParaRPr lang="en-US" sz="1200" dirty="0"/>
          </a:p>
        </p:txBody>
      </p:sp>
      <p:sp>
        <p:nvSpPr>
          <p:cNvPr id="8" name="Text 6"/>
          <p:cNvSpPr txBox="1"/>
          <p:nvPr/>
        </p:nvSpPr>
        <p:spPr>
          <a:xfrm>
            <a:off x="7955280" y="3840480"/>
            <a:ext cx="3383280" cy="256032"/>
          </a:xfrm>
          <a:prstGeom prst="rect">
            <a:avLst/>
          </a:prstGeom>
          <a:noFill/>
          <a:ln/>
        </p:spPr>
        <p:txBody>
          <a:bodyPr wrap="square" lIns="0" tIns="0" rIns="0" bIns="0" rtlCol="0" anchor="t"/>
          <a:lstStyle/>
          <a:p>
            <a:pPr marL="0" indent="0">
              <a:buNone/>
            </a:pPr>
            <a:r>
              <a:rPr lang="en-US" sz="1200" b="1" kern="0" spc="100" dirty="0">
                <a:solidFill>
                  <a:schemeClr val="tx2"/>
                </a:solidFill>
              </a:rPr>
              <a:t>COURSE</a:t>
            </a:r>
            <a:endParaRPr lang="en-US" sz="1200" dirty="0"/>
          </a:p>
        </p:txBody>
      </p:sp>
      <p:sp>
        <p:nvSpPr>
          <p:cNvPr id="9" name="Text 7"/>
          <p:cNvSpPr txBox="1"/>
          <p:nvPr/>
        </p:nvSpPr>
        <p:spPr>
          <a:xfrm>
            <a:off x="7955280" y="4133088"/>
            <a:ext cx="3383280" cy="685800"/>
          </a:xfrm>
          <a:prstGeom prst="rect">
            <a:avLst/>
          </a:prstGeom>
          <a:noFill/>
          <a:ln/>
        </p:spPr>
        <p:txBody>
          <a:bodyPr wrap="square" lIns="0" tIns="0" rIns="0" bIns="0" rtlCol="0" anchor="t"/>
          <a:lstStyle/>
          <a:p>
            <a:pPr marL="0" indent="0">
              <a:buNone/>
            </a:pPr>
            <a:r>
              <a:rPr lang="en-US" sz="1600" dirty="0">
                <a:solidFill>
                  <a:schemeClr val="tx1"/>
                </a:solidFill>
              </a:rPr>
              <a:t>Predictive Analytics</a:t>
            </a:r>
            <a:endParaRPr lang="en-US" sz="1600" dirty="0"/>
          </a:p>
        </p:txBody>
      </p:sp>
      <p:sp>
        <p:nvSpPr>
          <p:cNvPr id="10" name="Text 8"/>
          <p:cNvSpPr txBox="1"/>
          <p:nvPr/>
        </p:nvSpPr>
        <p:spPr>
          <a:xfrm>
            <a:off x="640080" y="5074920"/>
            <a:ext cx="3383280" cy="256032"/>
          </a:xfrm>
          <a:prstGeom prst="rect">
            <a:avLst/>
          </a:prstGeom>
          <a:noFill/>
          <a:ln/>
        </p:spPr>
        <p:txBody>
          <a:bodyPr wrap="square" lIns="0" tIns="0" rIns="0" bIns="0" rtlCol="0" anchor="t"/>
          <a:lstStyle/>
          <a:p>
            <a:pPr marL="0" indent="0">
              <a:buNone/>
            </a:pPr>
            <a:r>
              <a:rPr lang="en-US" sz="1200" b="1" kern="0" spc="100" dirty="0">
                <a:solidFill>
                  <a:schemeClr val="tx2"/>
                </a:solidFill>
              </a:rPr>
              <a:t>FACULTY GUIDE</a:t>
            </a:r>
            <a:endParaRPr lang="en-US" sz="1200" dirty="0"/>
          </a:p>
        </p:txBody>
      </p:sp>
      <p:sp>
        <p:nvSpPr>
          <p:cNvPr id="11" name="Text 9"/>
          <p:cNvSpPr txBox="1"/>
          <p:nvPr/>
        </p:nvSpPr>
        <p:spPr>
          <a:xfrm>
            <a:off x="640080" y="5367528"/>
            <a:ext cx="3383280" cy="685800"/>
          </a:xfrm>
          <a:prstGeom prst="rect">
            <a:avLst/>
          </a:prstGeom>
          <a:noFill/>
          <a:ln/>
        </p:spPr>
        <p:txBody>
          <a:bodyPr wrap="square" lIns="0" tIns="0" rIns="0" bIns="0" rtlCol="0" anchor="t"/>
          <a:lstStyle/>
          <a:p>
            <a:pPr marL="0" indent="0">
              <a:buNone/>
            </a:pPr>
            <a:r>
              <a:rPr lang="en-US" sz="1600" dirty="0">
                <a:solidFill>
                  <a:schemeClr val="tx1"/>
                </a:solidFill>
              </a:rPr>
              <a:t>Dr. Deepak Asudani</a:t>
            </a:r>
            <a:endParaRPr lang="en-US" sz="1600" dirty="0"/>
          </a:p>
        </p:txBody>
      </p:sp>
      <p:sp>
        <p:nvSpPr>
          <p:cNvPr id="12" name="Text 10"/>
          <p:cNvSpPr txBox="1"/>
          <p:nvPr/>
        </p:nvSpPr>
        <p:spPr>
          <a:xfrm>
            <a:off x="4297680" y="5074920"/>
            <a:ext cx="3383280" cy="256032"/>
          </a:xfrm>
          <a:prstGeom prst="rect">
            <a:avLst/>
          </a:prstGeom>
          <a:noFill/>
          <a:ln/>
        </p:spPr>
        <p:txBody>
          <a:bodyPr wrap="square" lIns="0" tIns="0" rIns="0" bIns="0" rtlCol="0" anchor="t"/>
          <a:lstStyle/>
          <a:p>
            <a:pPr marL="0" indent="0">
              <a:buNone/>
            </a:pPr>
            <a:r>
              <a:rPr lang="en-US" sz="1200" b="1" kern="0" spc="100" dirty="0">
                <a:solidFill>
                  <a:schemeClr val="tx2"/>
                </a:solidFill>
              </a:rPr>
              <a:t>PROGRAMME</a:t>
            </a:r>
            <a:endParaRPr lang="en-US" sz="1200" dirty="0"/>
          </a:p>
        </p:txBody>
      </p:sp>
      <p:sp>
        <p:nvSpPr>
          <p:cNvPr id="13" name="Text 11"/>
          <p:cNvSpPr txBox="1"/>
          <p:nvPr/>
        </p:nvSpPr>
        <p:spPr>
          <a:xfrm>
            <a:off x="4297680" y="5367528"/>
            <a:ext cx="3383280" cy="685800"/>
          </a:xfrm>
          <a:prstGeom prst="rect">
            <a:avLst/>
          </a:prstGeom>
          <a:noFill/>
          <a:ln/>
        </p:spPr>
        <p:txBody>
          <a:bodyPr wrap="square" lIns="0" tIns="0" rIns="0" bIns="0" rtlCol="0" anchor="t"/>
          <a:lstStyle/>
          <a:p>
            <a:pPr marL="0" indent="0">
              <a:buNone/>
            </a:pPr>
            <a:r>
              <a:rPr lang="en-US" sz="1600" dirty="0">
                <a:solidFill>
                  <a:schemeClr val="tx1"/>
                </a:solidFill>
              </a:rPr>
              <a:t>B.Tech Computer Science and Engineering</a:t>
            </a:r>
            <a:endParaRPr lang="en-US" sz="1600" dirty="0"/>
          </a:p>
        </p:txBody>
      </p:sp>
      <p:sp>
        <p:nvSpPr>
          <p:cNvPr id="14" name="Text 12"/>
          <p:cNvSpPr txBox="1"/>
          <p:nvPr/>
        </p:nvSpPr>
        <p:spPr>
          <a:xfrm>
            <a:off x="7955280" y="5074920"/>
            <a:ext cx="3383280" cy="256032"/>
          </a:xfrm>
          <a:prstGeom prst="rect">
            <a:avLst/>
          </a:prstGeom>
          <a:noFill/>
          <a:ln/>
        </p:spPr>
        <p:txBody>
          <a:bodyPr wrap="square" lIns="0" tIns="0" rIns="0" bIns="0" rtlCol="0" anchor="t"/>
          <a:lstStyle/>
          <a:p>
            <a:pPr marL="0" indent="0">
              <a:buNone/>
            </a:pPr>
            <a:r>
              <a:rPr lang="en-US" sz="1200" b="1" kern="0" spc="100" dirty="0">
                <a:solidFill>
                  <a:schemeClr val="tx2"/>
                </a:solidFill>
              </a:rPr>
              <a:t>INSTITUTE</a:t>
            </a:r>
            <a:endParaRPr lang="en-US" sz="1200" dirty="0"/>
          </a:p>
        </p:txBody>
      </p:sp>
      <p:sp>
        <p:nvSpPr>
          <p:cNvPr id="15" name="Text 13"/>
          <p:cNvSpPr txBox="1"/>
          <p:nvPr/>
        </p:nvSpPr>
        <p:spPr>
          <a:xfrm>
            <a:off x="7955280" y="5367528"/>
            <a:ext cx="3383280" cy="685800"/>
          </a:xfrm>
          <a:prstGeom prst="rect">
            <a:avLst/>
          </a:prstGeom>
          <a:noFill/>
          <a:ln/>
        </p:spPr>
        <p:txBody>
          <a:bodyPr wrap="square" lIns="0" tIns="0" rIns="0" bIns="0" rtlCol="0" anchor="t"/>
          <a:lstStyle/>
          <a:p>
            <a:pPr marL="0" indent="0">
              <a:buNone/>
            </a:pPr>
            <a:r>
              <a:rPr lang="en-US" sz="1600" dirty="0">
                <a:solidFill>
                  <a:schemeClr val="tx1"/>
                </a:solidFill>
              </a:rPr>
              <a:t>Symbiosis Institute of Technology, Nagpur</a:t>
            </a:r>
            <a:endParaRPr lang="en-US" sz="1600" dirty="0"/>
          </a:p>
        </p:txBody>
      </p:sp>
      <p:sp>
        <p:nvSpPr>
          <p:cNvPr id="17" name="TextBox 16">
            <a:extLst>
              <a:ext uri="{FF2B5EF4-FFF2-40B4-BE49-F238E27FC236}">
                <a16:creationId xmlns:a16="http://schemas.microsoft.com/office/drawing/2014/main" id="{D0E4083E-C66F-2502-F99C-02D4CB37D679}"/>
              </a:ext>
            </a:extLst>
          </p:cNvPr>
          <p:cNvSpPr txBox="1"/>
          <p:nvPr/>
        </p:nvSpPr>
        <p:spPr>
          <a:xfrm>
            <a:off x="4236721" y="4096512"/>
            <a:ext cx="2890787" cy="338554"/>
          </a:xfrm>
          <a:prstGeom prst="rect">
            <a:avLst/>
          </a:prstGeom>
          <a:noFill/>
        </p:spPr>
        <p:txBody>
          <a:bodyPr wrap="square">
            <a:spAutoFit/>
          </a:bodyPr>
          <a:lstStyle/>
          <a:p>
            <a:pPr marL="0" indent="0">
              <a:buNone/>
            </a:pPr>
            <a:r>
              <a:rPr lang="en-US" sz="1600" dirty="0">
                <a:solidFill>
                  <a:schemeClr val="tx1"/>
                </a:solidFill>
              </a:rPr>
              <a:t>23070521227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908792" cy="822960"/>
          </a:xfrm>
          <a:prstGeom prst="rect">
            <a:avLst/>
          </a:prstGeom>
          <a:noFill/>
          <a:ln/>
        </p:spPr>
        <p:txBody>
          <a:bodyPr wrap="square" lIns="0" tIns="0" rIns="0" bIns="0" rtlCol="0" anchor="ctr"/>
          <a:lstStyle/>
          <a:p>
            <a:pPr marL="0" indent="0">
              <a:buNone/>
            </a:pPr>
            <a:r>
              <a:rPr lang="en-US" sz="3400" b="1" dirty="0">
                <a:solidFill>
                  <a:schemeClr val="tx1"/>
                </a:solidFill>
              </a:rPr>
              <a:t>Problem Statement and Objectives</a:t>
            </a:r>
            <a:endParaRPr lang="en-US" sz="3400" dirty="0"/>
          </a:p>
        </p:txBody>
      </p:sp>
      <p:sp>
        <p:nvSpPr>
          <p:cNvPr id="3" name="Problem card"/>
          <p:cNvSpPr/>
          <p:nvPr/>
        </p:nvSpPr>
        <p:spPr>
          <a:xfrm>
            <a:off x="640080" y="1554480"/>
            <a:ext cx="4937760" cy="3291840"/>
          </a:xfrm>
          <a:prstGeom prst="roundRect">
            <a:avLst>
              <a:gd name="adj" fmla="val 2222"/>
            </a:avLst>
          </a:prstGeom>
          <a:solidFill>
            <a:schemeClr val="bg2"/>
          </a:solidFill>
          <a:ln w="12700">
            <a:solidFill>
              <a:schemeClr val="bg2"/>
            </a:solidFill>
            <a:prstDash val="solid"/>
          </a:ln>
        </p:spPr>
      </p:sp>
      <p:sp>
        <p:nvSpPr>
          <p:cNvPr id="4" name="Text 2"/>
          <p:cNvSpPr txBox="1"/>
          <p:nvPr/>
        </p:nvSpPr>
        <p:spPr>
          <a:xfrm>
            <a:off x="914400" y="1783080"/>
            <a:ext cx="438912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PROBLEM</a:t>
            </a:r>
            <a:endParaRPr lang="en-US" sz="1200" dirty="0"/>
          </a:p>
        </p:txBody>
      </p:sp>
      <p:sp>
        <p:nvSpPr>
          <p:cNvPr id="5" name="Text 3"/>
          <p:cNvSpPr txBox="1"/>
          <p:nvPr/>
        </p:nvSpPr>
        <p:spPr>
          <a:xfrm>
            <a:off x="914400" y="2148840"/>
            <a:ext cx="4389120" cy="1005840"/>
          </a:xfrm>
          <a:prstGeom prst="rect">
            <a:avLst/>
          </a:prstGeom>
          <a:noFill/>
          <a:ln/>
        </p:spPr>
        <p:txBody>
          <a:bodyPr wrap="square" lIns="0" tIns="0" rIns="0" bIns="0" rtlCol="0" anchor="t"/>
          <a:lstStyle/>
          <a:p>
            <a:pPr marL="0" indent="0">
              <a:buNone/>
            </a:pPr>
            <a:r>
              <a:rPr lang="en-US" sz="1500" dirty="0">
                <a:solidFill>
                  <a:schemeClr val="tx1"/>
                </a:solidFill>
              </a:rPr>
              <a:t>Stress can affect physiological signals such as heart rate, heart-rate variability and electrodermal activity.</a:t>
            </a:r>
            <a:endParaRPr lang="en-US" sz="1500" dirty="0"/>
          </a:p>
        </p:txBody>
      </p:sp>
      <p:sp>
        <p:nvSpPr>
          <p:cNvPr id="6" name="Text 4"/>
          <p:cNvSpPr txBox="1"/>
          <p:nvPr/>
        </p:nvSpPr>
        <p:spPr>
          <a:xfrm>
            <a:off x="914400" y="3291840"/>
            <a:ext cx="4389120" cy="1280160"/>
          </a:xfrm>
          <a:prstGeom prst="rect">
            <a:avLst/>
          </a:prstGeom>
          <a:noFill/>
          <a:ln/>
        </p:spPr>
        <p:txBody>
          <a:bodyPr wrap="square" lIns="0" tIns="0" rIns="0" bIns="0" rtlCol="0" anchor="t"/>
          <a:lstStyle/>
          <a:p>
            <a:pPr marL="0" indent="0">
              <a:buNone/>
            </a:pPr>
            <a:r>
              <a:rPr lang="en-US" sz="2200" b="1" dirty="0">
                <a:solidFill>
                  <a:schemeClr val="tx1"/>
                </a:solidFill>
              </a:rPr>
              <a:t>Can machine learning identify physiological patterns associated with stress?</a:t>
            </a:r>
            <a:endParaRPr lang="en-US" sz="2200" dirty="0"/>
          </a:p>
        </p:txBody>
      </p:sp>
      <p:sp>
        <p:nvSpPr>
          <p:cNvPr id="7" name="Text 5"/>
          <p:cNvSpPr txBox="1"/>
          <p:nvPr/>
        </p:nvSpPr>
        <p:spPr>
          <a:xfrm>
            <a:off x="6035040" y="1554480"/>
            <a:ext cx="5486400" cy="365760"/>
          </a:xfrm>
          <a:prstGeom prst="rect">
            <a:avLst/>
          </a:prstGeom>
          <a:noFill/>
          <a:ln/>
        </p:spPr>
        <p:txBody>
          <a:bodyPr wrap="square" lIns="0" tIns="0" rIns="0" bIns="0" rtlCol="0" anchor="t"/>
          <a:lstStyle/>
          <a:p>
            <a:pPr marL="0" indent="0">
              <a:buNone/>
            </a:pPr>
            <a:r>
              <a:rPr lang="en-US" sz="2000" b="1" dirty="0">
                <a:solidFill>
                  <a:schemeClr val="accent1"/>
                </a:solidFill>
              </a:rPr>
              <a:t>Objectives</a:t>
            </a:r>
            <a:endParaRPr lang="en-US" sz="2000" dirty="0"/>
          </a:p>
        </p:txBody>
      </p:sp>
      <p:sp>
        <p:nvSpPr>
          <p:cNvPr id="8" name="Text 6"/>
          <p:cNvSpPr txBox="1"/>
          <p:nvPr/>
        </p:nvSpPr>
        <p:spPr>
          <a:xfrm>
            <a:off x="6035040" y="2057400"/>
            <a:ext cx="5486400" cy="28346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Build and evaluate binary stress-classification models</a:t>
            </a:r>
            <a:endParaRPr lang="en-US" sz="1400" dirty="0"/>
          </a:p>
          <a:p>
            <a:pPr marL="342900" indent="-342900">
              <a:spcAft>
                <a:spcPts val="1200"/>
              </a:spcAft>
              <a:buSzPct val="100000"/>
              <a:buChar char="•"/>
            </a:pPr>
            <a:r>
              <a:rPr lang="en-US" sz="1600" dirty="0">
                <a:solidFill>
                  <a:schemeClr val="tx1"/>
                </a:solidFill>
              </a:rPr>
              <a:t>Compare performance across two real-world datasets and one synthetic dataset</a:t>
            </a:r>
            <a:endParaRPr lang="en-US" sz="1400" dirty="0"/>
          </a:p>
          <a:p>
            <a:pPr marL="342900" indent="-342900">
              <a:spcAft>
                <a:spcPts val="1200"/>
              </a:spcAft>
              <a:buSzPct val="100000"/>
              <a:buChar char="•"/>
            </a:pPr>
            <a:r>
              <a:rPr lang="en-US" sz="1600" dirty="0">
                <a:solidFill>
                  <a:schemeClr val="tx1"/>
                </a:solidFill>
              </a:rPr>
              <a:t>Test performance on participants not used for model training</a:t>
            </a:r>
            <a:endParaRPr lang="en-US" sz="1400" dirty="0"/>
          </a:p>
          <a:p>
            <a:pPr marL="342900" indent="-342900">
              <a:spcAft>
                <a:spcPts val="1200"/>
              </a:spcAft>
              <a:buSzPct val="100000"/>
              <a:buChar char="•"/>
            </a:pPr>
            <a:r>
              <a:rPr lang="en-US" sz="1600" dirty="0">
                <a:solidFill>
                  <a:schemeClr val="tx1"/>
                </a:solidFill>
              </a:rPr>
              <a:t>Understand the strengths and limitations of physiological stress prediction</a:t>
            </a:r>
            <a:endParaRPr lang="en-US" sz="1400" dirty="0"/>
          </a:p>
        </p:txBody>
      </p:sp>
      <p:sp>
        <p:nvSpPr>
          <p:cNvPr id="9" name="Text 7"/>
          <p:cNvSpPr txBox="1"/>
          <p:nvPr/>
        </p:nvSpPr>
        <p:spPr>
          <a:xfrm>
            <a:off x="640080" y="5349240"/>
            <a:ext cx="2011680" cy="548640"/>
          </a:xfrm>
          <a:prstGeom prst="rect">
            <a:avLst/>
          </a:prstGeom>
          <a:noFill/>
          <a:ln/>
        </p:spPr>
        <p:txBody>
          <a:bodyPr wrap="square" lIns="0" tIns="0" rIns="0" bIns="0" rtlCol="0" anchor="ctr"/>
          <a:lstStyle/>
          <a:p>
            <a:pPr marL="0" indent="0">
              <a:buNone/>
            </a:pPr>
            <a:r>
              <a:rPr lang="en-US" sz="1600" b="1" dirty="0">
                <a:solidFill>
                  <a:schemeClr val="tx1"/>
                </a:solidFill>
              </a:rPr>
              <a:t>Prediction task</a:t>
            </a:r>
            <a:endParaRPr lang="en-US" sz="1600" dirty="0"/>
          </a:p>
        </p:txBody>
      </p:sp>
      <p:sp>
        <p:nvSpPr>
          <p:cNvPr id="10" name="Prediction task chip"/>
          <p:cNvSpPr txBox="1"/>
          <p:nvPr/>
        </p:nvSpPr>
        <p:spPr>
          <a:xfrm>
            <a:off x="2651760" y="5349240"/>
            <a:ext cx="5120640" cy="548640"/>
          </a:xfrm>
          <a:prstGeom prst="roundRect">
            <a:avLst>
              <a:gd name="adj" fmla="val 16667"/>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rgbClr val="FFFFFF"/>
                </a:solidFill>
              </a:rPr>
              <a:t>Baseline / relaxation   versus   Stress</a:t>
            </a:r>
            <a:endParaRPr lang="en-US" sz="1600" dirty="0"/>
          </a:p>
        </p:txBody>
      </p:sp>
      <p:sp>
        <p:nvSpPr>
          <p:cNvPr id="25" name="Slide Number Placeholder 0"/>
          <p:cNvSpPr>
            <a:spLocks noGrp="1"/>
          </p:cNvSpPr>
          <p:nvPr>
            <p:ph type="sldNum" sz="quarter" idx="4294967295"/>
          </p:nvPr>
        </p:nvSpPr>
        <p:spPr>
          <a:xfrm>
            <a:off x="10634472" y="642823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908792" cy="822960"/>
          </a:xfrm>
          <a:prstGeom prst="rect">
            <a:avLst/>
          </a:prstGeom>
          <a:noFill/>
          <a:ln/>
        </p:spPr>
        <p:txBody>
          <a:bodyPr wrap="square" lIns="0" tIns="0" rIns="0" bIns="0" rtlCol="0" anchor="ctr"/>
          <a:lstStyle/>
          <a:p>
            <a:pPr marL="0" indent="0">
              <a:buNone/>
            </a:pPr>
            <a:r>
              <a:rPr lang="en-US" sz="3400" b="1" dirty="0">
                <a:solidFill>
                  <a:schemeClr val="tx1"/>
                </a:solidFill>
              </a:rPr>
              <a:t>Why Three Datasets?</a:t>
            </a:r>
            <a:endParaRPr lang="en-US" sz="3400" dirty="0"/>
          </a:p>
        </p:txBody>
      </p:sp>
      <p:sp>
        <p:nvSpPr>
          <p:cNvPr id="3" name="Dataset card WESAD"/>
          <p:cNvSpPr/>
          <p:nvPr/>
        </p:nvSpPr>
        <p:spPr>
          <a:xfrm>
            <a:off x="640080" y="1463040"/>
            <a:ext cx="3474720" cy="2286000"/>
          </a:xfrm>
          <a:prstGeom prst="roundRect">
            <a:avLst>
              <a:gd name="adj" fmla="val 3200"/>
            </a:avLst>
          </a:prstGeom>
          <a:solidFill>
            <a:schemeClr val="bg2"/>
          </a:solidFill>
          <a:ln w="12700">
            <a:solidFill>
              <a:schemeClr val="bg2"/>
            </a:solidFill>
            <a:prstDash val="solid"/>
          </a:ln>
        </p:spPr>
      </p:sp>
      <p:sp>
        <p:nvSpPr>
          <p:cNvPr id="4" name="Text 2"/>
          <p:cNvSpPr txBox="1"/>
          <p:nvPr/>
        </p:nvSpPr>
        <p:spPr>
          <a:xfrm>
            <a:off x="868680" y="1627632"/>
            <a:ext cx="3108960" cy="228600"/>
          </a:xfrm>
          <a:prstGeom prst="rect">
            <a:avLst/>
          </a:prstGeom>
          <a:noFill/>
          <a:ln/>
        </p:spPr>
        <p:txBody>
          <a:bodyPr wrap="square" lIns="0" tIns="0" rIns="0" bIns="0" rtlCol="0" anchor="t"/>
          <a:lstStyle/>
          <a:p>
            <a:pPr marL="0" indent="0">
              <a:buNone/>
            </a:pPr>
            <a:r>
              <a:rPr lang="en-US" sz="1200" b="1" kern="0" spc="100" dirty="0">
                <a:solidFill>
                  <a:schemeClr val="accent1"/>
                </a:solidFill>
              </a:rPr>
              <a:t>REAL-WORLD RESEARCH DATASET</a:t>
            </a:r>
            <a:endParaRPr lang="en-US" sz="1200" dirty="0"/>
          </a:p>
        </p:txBody>
      </p:sp>
      <p:sp>
        <p:nvSpPr>
          <p:cNvPr id="5" name="Text 3"/>
          <p:cNvSpPr txBox="1"/>
          <p:nvPr/>
        </p:nvSpPr>
        <p:spPr>
          <a:xfrm>
            <a:off x="868680" y="1874520"/>
            <a:ext cx="3108960" cy="411480"/>
          </a:xfrm>
          <a:prstGeom prst="rect">
            <a:avLst/>
          </a:prstGeom>
          <a:noFill/>
          <a:ln/>
        </p:spPr>
        <p:txBody>
          <a:bodyPr wrap="square" lIns="0" tIns="0" rIns="0" bIns="0" rtlCol="0" anchor="t"/>
          <a:lstStyle/>
          <a:p>
            <a:pPr marL="0" indent="0">
              <a:buNone/>
            </a:pPr>
            <a:r>
              <a:rPr lang="en-US" sz="2200" b="1" dirty="0">
                <a:solidFill>
                  <a:schemeClr val="tx1"/>
                </a:solidFill>
              </a:rPr>
              <a:t>WESAD</a:t>
            </a:r>
            <a:endParaRPr lang="en-US" sz="2200" dirty="0"/>
          </a:p>
        </p:txBody>
      </p:sp>
      <p:sp>
        <p:nvSpPr>
          <p:cNvPr id="6" name="Text 4"/>
          <p:cNvSpPr txBox="1"/>
          <p:nvPr/>
        </p:nvSpPr>
        <p:spPr>
          <a:xfrm>
            <a:off x="868680" y="2395728"/>
            <a:ext cx="1234440" cy="502920"/>
          </a:xfrm>
          <a:prstGeom prst="rect">
            <a:avLst/>
          </a:prstGeom>
          <a:noFill/>
          <a:ln/>
        </p:spPr>
        <p:txBody>
          <a:bodyPr wrap="square" lIns="0" tIns="0" rIns="0" bIns="0" rtlCol="0" anchor="ctr"/>
          <a:lstStyle/>
          <a:p>
            <a:pPr marL="0" indent="0">
              <a:buNone/>
            </a:pPr>
            <a:r>
              <a:rPr lang="en-US" sz="2800" b="1" dirty="0">
                <a:solidFill>
                  <a:schemeClr val="accent1"/>
                </a:solidFill>
              </a:rPr>
              <a:t>2,575</a:t>
            </a:r>
            <a:endParaRPr lang="en-US" sz="2800" dirty="0"/>
          </a:p>
        </p:txBody>
      </p:sp>
      <p:sp>
        <p:nvSpPr>
          <p:cNvPr id="7" name="Text 5"/>
          <p:cNvSpPr txBox="1"/>
          <p:nvPr/>
        </p:nvSpPr>
        <p:spPr>
          <a:xfrm>
            <a:off x="2148840" y="2395728"/>
            <a:ext cx="1783080" cy="502920"/>
          </a:xfrm>
          <a:prstGeom prst="rect">
            <a:avLst/>
          </a:prstGeom>
          <a:noFill/>
          <a:ln/>
        </p:spPr>
        <p:txBody>
          <a:bodyPr wrap="square" lIns="0" tIns="0" rIns="0" bIns="0" rtlCol="0" anchor="ctr"/>
          <a:lstStyle/>
          <a:p>
            <a:pPr marL="0" indent="0">
              <a:buNone/>
            </a:pPr>
            <a:r>
              <a:rPr lang="en-US" sz="1400" dirty="0">
                <a:solidFill>
                  <a:schemeClr val="tx2"/>
                </a:solidFill>
              </a:rPr>
              <a:t>windows</a:t>
            </a:r>
            <a:endParaRPr lang="en-US" sz="1400" dirty="0"/>
          </a:p>
        </p:txBody>
      </p:sp>
      <p:sp>
        <p:nvSpPr>
          <p:cNvPr id="8" name="Text 6"/>
          <p:cNvSpPr txBox="1"/>
          <p:nvPr/>
        </p:nvSpPr>
        <p:spPr>
          <a:xfrm>
            <a:off x="868680" y="2999232"/>
            <a:ext cx="1234440" cy="548640"/>
          </a:xfrm>
          <a:prstGeom prst="rect">
            <a:avLst/>
          </a:prstGeom>
          <a:noFill/>
          <a:ln/>
        </p:spPr>
        <p:txBody>
          <a:bodyPr wrap="square" lIns="0" tIns="0" rIns="0" bIns="0" rtlCol="0" anchor="ctr"/>
          <a:lstStyle/>
          <a:p>
            <a:pPr marL="0" indent="0">
              <a:buNone/>
            </a:pPr>
            <a:r>
              <a:rPr lang="en-US" sz="2800" b="1" dirty="0">
                <a:solidFill>
                  <a:schemeClr val="accent1"/>
                </a:solidFill>
              </a:rPr>
              <a:t>144</a:t>
            </a:r>
            <a:endParaRPr lang="en-US" sz="2800" dirty="0"/>
          </a:p>
        </p:txBody>
      </p:sp>
      <p:sp>
        <p:nvSpPr>
          <p:cNvPr id="9" name="Text 7"/>
          <p:cNvSpPr txBox="1"/>
          <p:nvPr/>
        </p:nvSpPr>
        <p:spPr>
          <a:xfrm>
            <a:off x="2148840" y="2999232"/>
            <a:ext cx="1783080" cy="548640"/>
          </a:xfrm>
          <a:prstGeom prst="rect">
            <a:avLst/>
          </a:prstGeom>
          <a:noFill/>
          <a:ln/>
        </p:spPr>
        <p:txBody>
          <a:bodyPr wrap="square" lIns="0" tIns="0" rIns="0" bIns="0" rtlCol="0" anchor="ctr"/>
          <a:lstStyle/>
          <a:p>
            <a:pPr marL="0" indent="0">
              <a:buNone/>
            </a:pPr>
            <a:r>
              <a:rPr lang="en-US" sz="1400" dirty="0">
                <a:solidFill>
                  <a:schemeClr val="tx2"/>
                </a:solidFill>
              </a:rPr>
              <a:t>predictors</a:t>
            </a:r>
            <a:endParaRPr lang="en-US" sz="1400" dirty="0"/>
          </a:p>
        </p:txBody>
      </p:sp>
      <p:sp>
        <p:nvSpPr>
          <p:cNvPr id="10" name="Dataset card QoL_Stress"/>
          <p:cNvSpPr/>
          <p:nvPr/>
        </p:nvSpPr>
        <p:spPr>
          <a:xfrm>
            <a:off x="4357116" y="1463040"/>
            <a:ext cx="3474720" cy="2286000"/>
          </a:xfrm>
          <a:prstGeom prst="roundRect">
            <a:avLst>
              <a:gd name="adj" fmla="val 3200"/>
            </a:avLst>
          </a:prstGeom>
          <a:solidFill>
            <a:schemeClr val="bg2"/>
          </a:solidFill>
          <a:ln w="12700">
            <a:solidFill>
              <a:schemeClr val="bg2"/>
            </a:solidFill>
            <a:prstDash val="solid"/>
          </a:ln>
        </p:spPr>
      </p:sp>
      <p:sp>
        <p:nvSpPr>
          <p:cNvPr id="11" name="Text 9"/>
          <p:cNvSpPr txBox="1"/>
          <p:nvPr/>
        </p:nvSpPr>
        <p:spPr>
          <a:xfrm>
            <a:off x="4585716" y="1627632"/>
            <a:ext cx="3108960" cy="228600"/>
          </a:xfrm>
          <a:prstGeom prst="rect">
            <a:avLst/>
          </a:prstGeom>
          <a:noFill/>
          <a:ln/>
        </p:spPr>
        <p:txBody>
          <a:bodyPr wrap="square" lIns="0" tIns="0" rIns="0" bIns="0" rtlCol="0" anchor="t"/>
          <a:lstStyle/>
          <a:p>
            <a:pPr marL="0" indent="0">
              <a:buNone/>
            </a:pPr>
            <a:r>
              <a:rPr lang="en-US" sz="1200" b="1" kern="0" spc="100" dirty="0">
                <a:solidFill>
                  <a:schemeClr val="accent1"/>
                </a:solidFill>
              </a:rPr>
              <a:t>REAL-WORLD RESEARCH DATASET</a:t>
            </a:r>
            <a:endParaRPr lang="en-US" sz="1200" dirty="0"/>
          </a:p>
        </p:txBody>
      </p:sp>
      <p:sp>
        <p:nvSpPr>
          <p:cNvPr id="12" name="Text 10"/>
          <p:cNvSpPr txBox="1"/>
          <p:nvPr/>
        </p:nvSpPr>
        <p:spPr>
          <a:xfrm>
            <a:off x="4585716" y="1874520"/>
            <a:ext cx="3108960" cy="411480"/>
          </a:xfrm>
          <a:prstGeom prst="rect">
            <a:avLst/>
          </a:prstGeom>
          <a:noFill/>
          <a:ln/>
        </p:spPr>
        <p:txBody>
          <a:bodyPr wrap="square" lIns="0" tIns="0" rIns="0" bIns="0" rtlCol="0" anchor="t"/>
          <a:lstStyle/>
          <a:p>
            <a:pPr marL="0" indent="0">
              <a:buNone/>
            </a:pPr>
            <a:r>
              <a:rPr lang="en-US" sz="2200" b="1" dirty="0">
                <a:solidFill>
                  <a:schemeClr val="tx1"/>
                </a:solidFill>
              </a:rPr>
              <a:t>QoL_Stress</a:t>
            </a:r>
            <a:endParaRPr lang="en-US" sz="2200" dirty="0"/>
          </a:p>
        </p:txBody>
      </p:sp>
      <p:sp>
        <p:nvSpPr>
          <p:cNvPr id="13" name="Text 11"/>
          <p:cNvSpPr txBox="1"/>
          <p:nvPr/>
        </p:nvSpPr>
        <p:spPr>
          <a:xfrm>
            <a:off x="4585716" y="2395728"/>
            <a:ext cx="1234440" cy="502920"/>
          </a:xfrm>
          <a:prstGeom prst="rect">
            <a:avLst/>
          </a:prstGeom>
          <a:noFill/>
          <a:ln/>
        </p:spPr>
        <p:txBody>
          <a:bodyPr wrap="square" lIns="0" tIns="0" rIns="0" bIns="0" rtlCol="0" anchor="ctr"/>
          <a:lstStyle/>
          <a:p>
            <a:pPr marL="0" indent="0">
              <a:buNone/>
            </a:pPr>
            <a:r>
              <a:rPr lang="en-US" sz="2800" b="1" dirty="0">
                <a:solidFill>
                  <a:schemeClr val="accent1"/>
                </a:solidFill>
              </a:rPr>
              <a:t>124</a:t>
            </a:r>
            <a:endParaRPr lang="en-US" sz="2800" dirty="0"/>
          </a:p>
        </p:txBody>
      </p:sp>
      <p:sp>
        <p:nvSpPr>
          <p:cNvPr id="14" name="Text 12"/>
          <p:cNvSpPr txBox="1"/>
          <p:nvPr/>
        </p:nvSpPr>
        <p:spPr>
          <a:xfrm>
            <a:off x="5865876" y="2395728"/>
            <a:ext cx="1783080" cy="502920"/>
          </a:xfrm>
          <a:prstGeom prst="rect">
            <a:avLst/>
          </a:prstGeom>
          <a:noFill/>
          <a:ln/>
        </p:spPr>
        <p:txBody>
          <a:bodyPr wrap="square" lIns="0" tIns="0" rIns="0" bIns="0" rtlCol="0" anchor="ctr"/>
          <a:lstStyle/>
          <a:p>
            <a:pPr marL="0" indent="0">
              <a:buNone/>
            </a:pPr>
            <a:r>
              <a:rPr lang="en-US" sz="1400" dirty="0">
                <a:solidFill>
                  <a:schemeClr val="tx2"/>
                </a:solidFill>
              </a:rPr>
              <a:t>sessions</a:t>
            </a:r>
            <a:endParaRPr lang="en-US" sz="1400" dirty="0"/>
          </a:p>
        </p:txBody>
      </p:sp>
      <p:sp>
        <p:nvSpPr>
          <p:cNvPr id="15" name="Text 13"/>
          <p:cNvSpPr txBox="1"/>
          <p:nvPr/>
        </p:nvSpPr>
        <p:spPr>
          <a:xfrm>
            <a:off x="4585716" y="2999232"/>
            <a:ext cx="1234440" cy="548640"/>
          </a:xfrm>
          <a:prstGeom prst="rect">
            <a:avLst/>
          </a:prstGeom>
          <a:noFill/>
          <a:ln/>
        </p:spPr>
        <p:txBody>
          <a:bodyPr wrap="square" lIns="0" tIns="0" rIns="0" bIns="0" rtlCol="0" anchor="ctr"/>
          <a:lstStyle/>
          <a:p>
            <a:pPr marL="0" indent="0">
              <a:buNone/>
            </a:pPr>
            <a:r>
              <a:rPr lang="en-US" sz="2800" b="1" dirty="0">
                <a:solidFill>
                  <a:schemeClr val="accent1"/>
                </a:solidFill>
              </a:rPr>
              <a:t>25</a:t>
            </a:r>
            <a:endParaRPr lang="en-US" sz="2800" dirty="0"/>
          </a:p>
        </p:txBody>
      </p:sp>
      <p:sp>
        <p:nvSpPr>
          <p:cNvPr id="16" name="Text 14"/>
          <p:cNvSpPr txBox="1"/>
          <p:nvPr/>
        </p:nvSpPr>
        <p:spPr>
          <a:xfrm>
            <a:off x="5865876" y="2999232"/>
            <a:ext cx="1783080" cy="548640"/>
          </a:xfrm>
          <a:prstGeom prst="rect">
            <a:avLst/>
          </a:prstGeom>
          <a:noFill/>
          <a:ln/>
        </p:spPr>
        <p:txBody>
          <a:bodyPr wrap="square" lIns="0" tIns="0" rIns="0" bIns="0" rtlCol="0" anchor="ctr"/>
          <a:lstStyle/>
          <a:p>
            <a:pPr marL="0" indent="0">
              <a:buNone/>
            </a:pPr>
            <a:r>
              <a:rPr lang="en-US" sz="1400" dirty="0">
                <a:solidFill>
                  <a:schemeClr val="tx2"/>
                </a:solidFill>
              </a:rPr>
              <a:t>primary physiological predictors</a:t>
            </a:r>
            <a:endParaRPr lang="en-US" sz="1400" dirty="0"/>
          </a:p>
        </p:txBody>
      </p:sp>
      <p:sp>
        <p:nvSpPr>
          <p:cNvPr id="17" name="Dataset card Synthetic"/>
          <p:cNvSpPr/>
          <p:nvPr/>
        </p:nvSpPr>
        <p:spPr>
          <a:xfrm>
            <a:off x="8074152" y="1463040"/>
            <a:ext cx="3474720" cy="2286000"/>
          </a:xfrm>
          <a:prstGeom prst="roundRect">
            <a:avLst>
              <a:gd name="adj" fmla="val 3200"/>
            </a:avLst>
          </a:prstGeom>
          <a:solidFill>
            <a:schemeClr val="bg2"/>
          </a:solidFill>
          <a:ln w="12700">
            <a:solidFill>
              <a:schemeClr val="bg2"/>
            </a:solidFill>
            <a:prstDash val="solid"/>
          </a:ln>
        </p:spPr>
      </p:sp>
      <p:sp>
        <p:nvSpPr>
          <p:cNvPr id="18" name="Text 16"/>
          <p:cNvSpPr txBox="1"/>
          <p:nvPr/>
        </p:nvSpPr>
        <p:spPr>
          <a:xfrm>
            <a:off x="8302752" y="1627632"/>
            <a:ext cx="3108960" cy="228600"/>
          </a:xfrm>
          <a:prstGeom prst="rect">
            <a:avLst/>
          </a:prstGeom>
          <a:noFill/>
          <a:ln/>
        </p:spPr>
        <p:txBody>
          <a:bodyPr wrap="square" lIns="0" tIns="0" rIns="0" bIns="0" rtlCol="0" anchor="t"/>
          <a:lstStyle/>
          <a:p>
            <a:pPr marL="0" indent="0">
              <a:buNone/>
            </a:pPr>
            <a:r>
              <a:rPr lang="en-US" sz="1200" b="1" kern="0" spc="100" dirty="0">
                <a:solidFill>
                  <a:schemeClr val="accent1"/>
                </a:solidFill>
              </a:rPr>
              <a:t>SIMULATED DATA</a:t>
            </a:r>
            <a:endParaRPr lang="en-US" sz="1200" dirty="0"/>
          </a:p>
        </p:txBody>
      </p:sp>
      <p:sp>
        <p:nvSpPr>
          <p:cNvPr id="19" name="Text 17"/>
          <p:cNvSpPr txBox="1"/>
          <p:nvPr/>
        </p:nvSpPr>
        <p:spPr>
          <a:xfrm>
            <a:off x="8302752" y="1874520"/>
            <a:ext cx="3108960" cy="411480"/>
          </a:xfrm>
          <a:prstGeom prst="rect">
            <a:avLst/>
          </a:prstGeom>
          <a:noFill/>
          <a:ln/>
        </p:spPr>
        <p:txBody>
          <a:bodyPr wrap="square" lIns="0" tIns="0" rIns="0" bIns="0" rtlCol="0" anchor="t"/>
          <a:lstStyle/>
          <a:p>
            <a:pPr marL="0" indent="0">
              <a:buNone/>
            </a:pPr>
            <a:r>
              <a:rPr lang="en-US" sz="2200" b="1" dirty="0">
                <a:solidFill>
                  <a:schemeClr val="tx1"/>
                </a:solidFill>
              </a:rPr>
              <a:t>Synthetic</a:t>
            </a:r>
            <a:endParaRPr lang="en-US" sz="2200" dirty="0"/>
          </a:p>
        </p:txBody>
      </p:sp>
      <p:sp>
        <p:nvSpPr>
          <p:cNvPr id="20" name="Text 18"/>
          <p:cNvSpPr txBox="1"/>
          <p:nvPr/>
        </p:nvSpPr>
        <p:spPr>
          <a:xfrm>
            <a:off x="8302752" y="2395728"/>
            <a:ext cx="1234440" cy="502920"/>
          </a:xfrm>
          <a:prstGeom prst="rect">
            <a:avLst/>
          </a:prstGeom>
          <a:noFill/>
          <a:ln/>
        </p:spPr>
        <p:txBody>
          <a:bodyPr wrap="square" lIns="0" tIns="0" rIns="0" bIns="0" rtlCol="0" anchor="ctr"/>
          <a:lstStyle/>
          <a:p>
            <a:pPr marL="0" indent="0">
              <a:buNone/>
            </a:pPr>
            <a:r>
              <a:rPr lang="en-US" sz="2800" b="1" dirty="0">
                <a:solidFill>
                  <a:schemeClr val="accent1"/>
                </a:solidFill>
              </a:rPr>
              <a:t>2,500</a:t>
            </a:r>
            <a:endParaRPr lang="en-US" sz="2800" dirty="0"/>
          </a:p>
        </p:txBody>
      </p:sp>
      <p:sp>
        <p:nvSpPr>
          <p:cNvPr id="21" name="Text 19"/>
          <p:cNvSpPr txBox="1"/>
          <p:nvPr/>
        </p:nvSpPr>
        <p:spPr>
          <a:xfrm>
            <a:off x="9582912" y="2395728"/>
            <a:ext cx="1783080" cy="502920"/>
          </a:xfrm>
          <a:prstGeom prst="rect">
            <a:avLst/>
          </a:prstGeom>
          <a:noFill/>
          <a:ln/>
        </p:spPr>
        <p:txBody>
          <a:bodyPr wrap="square" lIns="0" tIns="0" rIns="0" bIns="0" rtlCol="0" anchor="ctr"/>
          <a:lstStyle/>
          <a:p>
            <a:pPr marL="0" indent="0">
              <a:buNone/>
            </a:pPr>
            <a:r>
              <a:rPr lang="en-US" sz="1400" dirty="0">
                <a:solidFill>
                  <a:schemeClr val="tx2"/>
                </a:solidFill>
              </a:rPr>
              <a:t>observations</a:t>
            </a:r>
            <a:endParaRPr lang="en-US" sz="1400" dirty="0"/>
          </a:p>
        </p:txBody>
      </p:sp>
      <p:sp>
        <p:nvSpPr>
          <p:cNvPr id="22" name="Text 20"/>
          <p:cNvSpPr txBox="1"/>
          <p:nvPr/>
        </p:nvSpPr>
        <p:spPr>
          <a:xfrm>
            <a:off x="8302752" y="2999232"/>
            <a:ext cx="1234440" cy="548640"/>
          </a:xfrm>
          <a:prstGeom prst="rect">
            <a:avLst/>
          </a:prstGeom>
          <a:noFill/>
          <a:ln/>
        </p:spPr>
        <p:txBody>
          <a:bodyPr wrap="square" lIns="0" tIns="0" rIns="0" bIns="0" rtlCol="0" anchor="ctr"/>
          <a:lstStyle/>
          <a:p>
            <a:pPr marL="0" indent="0">
              <a:buNone/>
            </a:pPr>
            <a:r>
              <a:rPr lang="en-US" sz="2800" b="1" dirty="0">
                <a:solidFill>
                  <a:schemeClr val="accent1"/>
                </a:solidFill>
              </a:rPr>
              <a:t>10</a:t>
            </a:r>
            <a:endParaRPr lang="en-US" sz="2800" dirty="0"/>
          </a:p>
        </p:txBody>
      </p:sp>
      <p:sp>
        <p:nvSpPr>
          <p:cNvPr id="23" name="Text 21"/>
          <p:cNvSpPr txBox="1"/>
          <p:nvPr/>
        </p:nvSpPr>
        <p:spPr>
          <a:xfrm>
            <a:off x="9582912" y="2999232"/>
            <a:ext cx="1783080" cy="548640"/>
          </a:xfrm>
          <a:prstGeom prst="rect">
            <a:avLst/>
          </a:prstGeom>
          <a:noFill/>
          <a:ln/>
        </p:spPr>
        <p:txBody>
          <a:bodyPr wrap="square" lIns="0" tIns="0" rIns="0" bIns="0" rtlCol="0" anchor="ctr"/>
          <a:lstStyle/>
          <a:p>
            <a:pPr marL="0" indent="0">
              <a:buNone/>
            </a:pPr>
            <a:r>
              <a:rPr lang="en-US" sz="1400" dirty="0">
                <a:solidFill>
                  <a:schemeClr val="tx2"/>
                </a:solidFill>
              </a:rPr>
              <a:t>features</a:t>
            </a:r>
            <a:endParaRPr lang="en-US" sz="1400" dirty="0"/>
          </a:p>
        </p:txBody>
      </p:sp>
      <p:sp>
        <p:nvSpPr>
          <p:cNvPr id="24" name="Text 22"/>
          <p:cNvSpPr txBox="1"/>
          <p:nvPr/>
        </p:nvSpPr>
        <p:spPr>
          <a:xfrm>
            <a:off x="640080" y="4069080"/>
            <a:ext cx="6400800" cy="320040"/>
          </a:xfrm>
          <a:prstGeom prst="rect">
            <a:avLst/>
          </a:prstGeom>
          <a:noFill/>
          <a:ln/>
        </p:spPr>
        <p:txBody>
          <a:bodyPr wrap="square" lIns="0" tIns="0" rIns="0" bIns="0" rtlCol="0" anchor="t"/>
          <a:lstStyle/>
          <a:p>
            <a:pPr marL="0" indent="0">
              <a:buNone/>
            </a:pPr>
            <a:r>
              <a:rPr lang="en-US" sz="1800" b="1" dirty="0">
                <a:solidFill>
                  <a:schemeClr val="accent1"/>
                </a:solidFill>
              </a:rPr>
              <a:t>Why compare them?</a:t>
            </a:r>
            <a:endParaRPr lang="en-US" sz="1800" dirty="0"/>
          </a:p>
        </p:txBody>
      </p:sp>
      <p:sp>
        <p:nvSpPr>
          <p:cNvPr id="25" name="Text 23"/>
          <p:cNvSpPr txBox="1"/>
          <p:nvPr/>
        </p:nvSpPr>
        <p:spPr>
          <a:xfrm>
            <a:off x="640080" y="4480560"/>
            <a:ext cx="667512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WESAD: physiological windows from a controlled stress study</a:t>
            </a:r>
            <a:endParaRPr lang="en-US" sz="1400" dirty="0"/>
          </a:p>
          <a:p>
            <a:pPr marL="342900" indent="-342900">
              <a:spcAft>
                <a:spcPts val="800"/>
              </a:spcAft>
              <a:buSzPct val="100000"/>
              <a:buChar char="•"/>
            </a:pPr>
            <a:r>
              <a:rPr lang="en-US" sz="1400" dirty="0">
                <a:solidFill>
                  <a:schemeClr val="tx1"/>
                </a:solidFill>
              </a:rPr>
              <a:t>QoL_Stress: a separate dataset with different participants and collection procedures</a:t>
            </a:r>
            <a:endParaRPr lang="en-US" sz="1400" dirty="0"/>
          </a:p>
          <a:p>
            <a:pPr marL="342900" indent="-342900">
              <a:spcAft>
                <a:spcPts val="800"/>
              </a:spcAft>
              <a:buSzPct val="100000"/>
              <a:buChar char="•"/>
            </a:pPr>
            <a:r>
              <a:rPr lang="en-US" sz="1400" dirty="0">
                <a:solidFill>
                  <a:schemeClr val="tx1"/>
                </a:solidFill>
              </a:rPr>
              <a:t>Synthetic: a controlled experimental comparison, not proof of real-world performance</a:t>
            </a:r>
            <a:endParaRPr lang="en-US" sz="1400" dirty="0"/>
          </a:p>
        </p:txBody>
      </p:sp>
      <p:sp>
        <p:nvSpPr>
          <p:cNvPr id="26" name="Important card"/>
          <p:cNvSpPr/>
          <p:nvPr/>
        </p:nvSpPr>
        <p:spPr>
          <a:xfrm>
            <a:off x="7589520" y="4069080"/>
            <a:ext cx="3959352" cy="1280160"/>
          </a:xfrm>
          <a:prstGeom prst="roundRect">
            <a:avLst>
              <a:gd name="adj" fmla="val 3721"/>
            </a:avLst>
          </a:prstGeom>
          <a:solidFill>
            <a:schemeClr val="bg2"/>
          </a:solidFill>
          <a:ln w="12700">
            <a:solidFill>
              <a:schemeClr val="bg2"/>
            </a:solidFill>
            <a:prstDash val="solid"/>
          </a:ln>
        </p:spPr>
      </p:sp>
      <p:sp>
        <p:nvSpPr>
          <p:cNvPr id="27" name="Text 25"/>
          <p:cNvSpPr txBox="1"/>
          <p:nvPr/>
        </p:nvSpPr>
        <p:spPr>
          <a:xfrm>
            <a:off x="7818120" y="4251960"/>
            <a:ext cx="3520440" cy="914400"/>
          </a:xfrm>
          <a:prstGeom prst="rect">
            <a:avLst/>
          </a:prstGeom>
          <a:noFill/>
          <a:ln/>
        </p:spPr>
        <p:txBody>
          <a:bodyPr wrap="square" lIns="0" tIns="0" rIns="0" bIns="0" rtlCol="0" anchor="t"/>
          <a:lstStyle/>
          <a:p>
            <a:pPr marL="0" indent="0">
              <a:buNone/>
            </a:pPr>
            <a:r>
              <a:rPr lang="en-US" sz="1400" b="1" dirty="0">
                <a:solidFill>
                  <a:schemeClr val="accent1"/>
                </a:solidFill>
              </a:rPr>
              <a:t>Important</a:t>
            </a:r>
            <a:endParaRPr lang="en-US" sz="1400" dirty="0"/>
          </a:p>
          <a:p>
            <a:pPr marL="0" indent="0">
              <a:buNone/>
            </a:pPr>
            <a:r>
              <a:rPr lang="en-US" sz="1400" dirty="0">
                <a:solidFill>
                  <a:schemeClr val="tx1"/>
                </a:solidFill>
              </a:rPr>
              <a:t>These datasets differ in size, protocol, features and observation unit. Their scores are not a perfectly controlled, direct comparison.</a:t>
            </a:r>
            <a:endParaRPr lang="en-US" sz="1400" dirty="0"/>
          </a:p>
        </p:txBody>
      </p:sp>
      <p:sp>
        <p:nvSpPr>
          <p:cNvPr id="28" name="Slide Number Placeholder 0"/>
          <p:cNvSpPr>
            <a:spLocks noGrp="1"/>
          </p:cNvSpPr>
          <p:nvPr>
            <p:ph type="sldNum" sz="quarter" idx="4294967295"/>
          </p:nvPr>
        </p:nvSpPr>
        <p:spPr>
          <a:xfrm>
            <a:off x="10634472" y="642823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908792" cy="822960"/>
          </a:xfrm>
          <a:prstGeom prst="rect">
            <a:avLst/>
          </a:prstGeom>
          <a:noFill/>
          <a:ln/>
        </p:spPr>
        <p:txBody>
          <a:bodyPr wrap="square" lIns="0" tIns="0" rIns="0" bIns="0" rtlCol="0" anchor="ctr"/>
          <a:lstStyle/>
          <a:p>
            <a:pPr marL="0" indent="0">
              <a:buNone/>
            </a:pPr>
            <a:r>
              <a:rPr lang="en-US" sz="3400" b="1" dirty="0">
                <a:solidFill>
                  <a:schemeClr val="tx1"/>
                </a:solidFill>
              </a:rPr>
              <a:t>Overall Methodology: The KDD Process</a:t>
            </a:r>
            <a:endParaRPr lang="en-US" sz="3400" dirty="0"/>
          </a:p>
        </p:txBody>
      </p:sp>
      <p:sp>
        <p:nvSpPr>
          <p:cNvPr id="3" name="KDD stage 1"/>
          <p:cNvSpPr/>
          <p:nvPr/>
        </p:nvSpPr>
        <p:spPr>
          <a:xfrm>
            <a:off x="640080" y="1737360"/>
            <a:ext cx="1920240" cy="2743200"/>
          </a:xfrm>
          <a:prstGeom prst="roundRect">
            <a:avLst>
              <a:gd name="adj" fmla="val 3810"/>
            </a:avLst>
          </a:prstGeom>
          <a:solidFill>
            <a:schemeClr val="bg2"/>
          </a:solidFill>
          <a:ln w="12700">
            <a:solidFill>
              <a:schemeClr val="bg2"/>
            </a:solidFill>
            <a:prstDash val="solid"/>
          </a:ln>
        </p:spPr>
      </p:sp>
      <p:sp>
        <p:nvSpPr>
          <p:cNvPr id="4" name="Text 2"/>
          <p:cNvSpPr txBox="1"/>
          <p:nvPr/>
        </p:nvSpPr>
        <p:spPr>
          <a:xfrm>
            <a:off x="822960" y="196596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5" name="Text 3"/>
          <p:cNvSpPr txBox="1"/>
          <p:nvPr/>
        </p:nvSpPr>
        <p:spPr>
          <a:xfrm>
            <a:off x="822960" y="2651760"/>
            <a:ext cx="1600200" cy="777240"/>
          </a:xfrm>
          <a:prstGeom prst="rect">
            <a:avLst/>
          </a:prstGeom>
          <a:noFill/>
          <a:ln/>
        </p:spPr>
        <p:txBody>
          <a:bodyPr wrap="square" lIns="0" tIns="0" rIns="0" bIns="0" rtlCol="0" anchor="t"/>
          <a:lstStyle/>
          <a:p>
            <a:pPr marL="0" indent="0">
              <a:buNone/>
            </a:pPr>
            <a:r>
              <a:rPr lang="en-US" sz="1700" b="1" dirty="0">
                <a:solidFill>
                  <a:schemeClr val="tx1"/>
                </a:solidFill>
              </a:rPr>
              <a:t>Data Selection</a:t>
            </a:r>
            <a:endParaRPr lang="en-US" sz="1700" dirty="0"/>
          </a:p>
        </p:txBody>
      </p:sp>
      <p:sp>
        <p:nvSpPr>
          <p:cNvPr id="6" name="Text 4"/>
          <p:cNvSpPr txBox="1"/>
          <p:nvPr/>
        </p:nvSpPr>
        <p:spPr>
          <a:xfrm>
            <a:off x="822960" y="3520440"/>
            <a:ext cx="1600200" cy="731520"/>
          </a:xfrm>
          <a:prstGeom prst="rect">
            <a:avLst/>
          </a:prstGeom>
          <a:noFill/>
          <a:ln/>
        </p:spPr>
        <p:txBody>
          <a:bodyPr wrap="square" lIns="0" tIns="0" rIns="0" bIns="0" rtlCol="0" anchor="t"/>
          <a:lstStyle/>
          <a:p>
            <a:pPr marL="0" indent="0">
              <a:buNone/>
            </a:pPr>
            <a:r>
              <a:rPr lang="en-US" sz="1400" dirty="0">
                <a:solidFill>
                  <a:schemeClr val="tx2"/>
                </a:solidFill>
              </a:rPr>
              <a:t>Choose the relevant data</a:t>
            </a:r>
            <a:endParaRPr lang="en-US" sz="1400" dirty="0"/>
          </a:p>
        </p:txBody>
      </p:sp>
      <p:sp>
        <p:nvSpPr>
          <p:cNvPr id="7" name="Shape 5"/>
          <p:cNvSpPr/>
          <p:nvPr/>
        </p:nvSpPr>
        <p:spPr>
          <a:xfrm>
            <a:off x="2615184" y="2999232"/>
            <a:ext cx="219456" cy="219456"/>
          </a:xfrm>
          <a:prstGeom prst="rightArrow">
            <a:avLst/>
          </a:prstGeom>
          <a:solidFill>
            <a:schemeClr val="accent3"/>
          </a:solidFill>
          <a:ln w="12700">
            <a:solidFill>
              <a:schemeClr val="accent3"/>
            </a:solidFill>
            <a:prstDash val="solid"/>
          </a:ln>
        </p:spPr>
      </p:sp>
      <p:sp>
        <p:nvSpPr>
          <p:cNvPr id="8" name="KDD stage 2"/>
          <p:cNvSpPr/>
          <p:nvPr/>
        </p:nvSpPr>
        <p:spPr>
          <a:xfrm>
            <a:off x="2884932" y="1737360"/>
            <a:ext cx="1920240" cy="2743200"/>
          </a:xfrm>
          <a:prstGeom prst="roundRect">
            <a:avLst>
              <a:gd name="adj" fmla="val 3810"/>
            </a:avLst>
          </a:prstGeom>
          <a:solidFill>
            <a:schemeClr val="bg2"/>
          </a:solidFill>
          <a:ln w="12700">
            <a:solidFill>
              <a:schemeClr val="bg2"/>
            </a:solidFill>
            <a:prstDash val="solid"/>
          </a:ln>
        </p:spPr>
      </p:sp>
      <p:sp>
        <p:nvSpPr>
          <p:cNvPr id="9" name="Text 7"/>
          <p:cNvSpPr txBox="1"/>
          <p:nvPr/>
        </p:nvSpPr>
        <p:spPr>
          <a:xfrm>
            <a:off x="3067812" y="196596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0" name="Text 8"/>
          <p:cNvSpPr txBox="1"/>
          <p:nvPr/>
        </p:nvSpPr>
        <p:spPr>
          <a:xfrm>
            <a:off x="3067812" y="2651760"/>
            <a:ext cx="1600200" cy="777240"/>
          </a:xfrm>
          <a:prstGeom prst="rect">
            <a:avLst/>
          </a:prstGeom>
          <a:noFill/>
          <a:ln/>
        </p:spPr>
        <p:txBody>
          <a:bodyPr wrap="square" lIns="0" tIns="0" rIns="0" bIns="0" rtlCol="0" anchor="t"/>
          <a:lstStyle/>
          <a:p>
            <a:pPr marL="0" indent="0">
              <a:buNone/>
            </a:pPr>
            <a:r>
              <a:rPr lang="en-US" sz="1700" b="1" dirty="0">
                <a:solidFill>
                  <a:schemeClr val="tx1"/>
                </a:solidFill>
              </a:rPr>
              <a:t>Data Preprocessing</a:t>
            </a:r>
            <a:endParaRPr lang="en-US" sz="1700" dirty="0"/>
          </a:p>
        </p:txBody>
      </p:sp>
      <p:sp>
        <p:nvSpPr>
          <p:cNvPr id="11" name="Text 9"/>
          <p:cNvSpPr txBox="1"/>
          <p:nvPr/>
        </p:nvSpPr>
        <p:spPr>
          <a:xfrm>
            <a:off x="3067812" y="3520440"/>
            <a:ext cx="1600200" cy="731520"/>
          </a:xfrm>
          <a:prstGeom prst="rect">
            <a:avLst/>
          </a:prstGeom>
          <a:noFill/>
          <a:ln/>
        </p:spPr>
        <p:txBody>
          <a:bodyPr wrap="square" lIns="0" tIns="0" rIns="0" bIns="0" rtlCol="0" anchor="t"/>
          <a:lstStyle/>
          <a:p>
            <a:pPr marL="0" indent="0">
              <a:buNone/>
            </a:pPr>
            <a:r>
              <a:rPr lang="en-US" sz="1400" dirty="0">
                <a:solidFill>
                  <a:schemeClr val="tx2"/>
                </a:solidFill>
              </a:rPr>
              <a:t>Clean and structure the data</a:t>
            </a:r>
            <a:endParaRPr lang="en-US" sz="1400" dirty="0"/>
          </a:p>
        </p:txBody>
      </p:sp>
      <p:sp>
        <p:nvSpPr>
          <p:cNvPr id="12" name="Shape 10"/>
          <p:cNvSpPr/>
          <p:nvPr/>
        </p:nvSpPr>
        <p:spPr>
          <a:xfrm>
            <a:off x="4860036" y="2999232"/>
            <a:ext cx="219456" cy="219456"/>
          </a:xfrm>
          <a:prstGeom prst="rightArrow">
            <a:avLst/>
          </a:prstGeom>
          <a:solidFill>
            <a:schemeClr val="accent3"/>
          </a:solidFill>
          <a:ln w="12700">
            <a:solidFill>
              <a:schemeClr val="accent3"/>
            </a:solidFill>
            <a:prstDash val="solid"/>
          </a:ln>
        </p:spPr>
      </p:sp>
      <p:sp>
        <p:nvSpPr>
          <p:cNvPr id="13" name="KDD stage 3"/>
          <p:cNvSpPr/>
          <p:nvPr/>
        </p:nvSpPr>
        <p:spPr>
          <a:xfrm>
            <a:off x="5129784" y="1737360"/>
            <a:ext cx="1920240" cy="2743200"/>
          </a:xfrm>
          <a:prstGeom prst="roundRect">
            <a:avLst>
              <a:gd name="adj" fmla="val 3810"/>
            </a:avLst>
          </a:prstGeom>
          <a:solidFill>
            <a:schemeClr val="bg2"/>
          </a:solidFill>
          <a:ln w="12700">
            <a:solidFill>
              <a:schemeClr val="bg2"/>
            </a:solidFill>
            <a:prstDash val="solid"/>
          </a:ln>
        </p:spPr>
      </p:sp>
      <p:sp>
        <p:nvSpPr>
          <p:cNvPr id="14" name="Text 12"/>
          <p:cNvSpPr txBox="1"/>
          <p:nvPr/>
        </p:nvSpPr>
        <p:spPr>
          <a:xfrm>
            <a:off x="5312664" y="196596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5" name="Text 13"/>
          <p:cNvSpPr txBox="1"/>
          <p:nvPr/>
        </p:nvSpPr>
        <p:spPr>
          <a:xfrm>
            <a:off x="5312664" y="2651760"/>
            <a:ext cx="1600200" cy="777240"/>
          </a:xfrm>
          <a:prstGeom prst="rect">
            <a:avLst/>
          </a:prstGeom>
          <a:noFill/>
          <a:ln/>
        </p:spPr>
        <p:txBody>
          <a:bodyPr wrap="square" lIns="0" tIns="0" rIns="0" bIns="0" rtlCol="0" anchor="t"/>
          <a:lstStyle/>
          <a:p>
            <a:pPr marL="0" indent="0">
              <a:buNone/>
            </a:pPr>
            <a:r>
              <a:rPr lang="en-US" sz="1700" b="1" dirty="0">
                <a:solidFill>
                  <a:schemeClr val="tx1"/>
                </a:solidFill>
              </a:rPr>
              <a:t>Feature Engineering</a:t>
            </a:r>
            <a:endParaRPr lang="en-US" sz="1700" dirty="0"/>
          </a:p>
        </p:txBody>
      </p:sp>
      <p:sp>
        <p:nvSpPr>
          <p:cNvPr id="16" name="Text 14"/>
          <p:cNvSpPr txBox="1"/>
          <p:nvPr/>
        </p:nvSpPr>
        <p:spPr>
          <a:xfrm>
            <a:off x="5312664" y="3520440"/>
            <a:ext cx="1600200" cy="731520"/>
          </a:xfrm>
          <a:prstGeom prst="rect">
            <a:avLst/>
          </a:prstGeom>
          <a:noFill/>
          <a:ln/>
        </p:spPr>
        <p:txBody>
          <a:bodyPr wrap="square" lIns="0" tIns="0" rIns="0" bIns="0" rtlCol="0" anchor="t"/>
          <a:lstStyle/>
          <a:p>
            <a:pPr marL="0" indent="0">
              <a:buNone/>
            </a:pPr>
            <a:r>
              <a:rPr lang="en-US" sz="1400" dirty="0">
                <a:solidFill>
                  <a:schemeClr val="tx2"/>
                </a:solidFill>
              </a:rPr>
              <a:t>Build predictors from signals</a:t>
            </a:r>
            <a:endParaRPr lang="en-US" sz="1400" dirty="0"/>
          </a:p>
        </p:txBody>
      </p:sp>
      <p:sp>
        <p:nvSpPr>
          <p:cNvPr id="17" name="Shape 15"/>
          <p:cNvSpPr/>
          <p:nvPr/>
        </p:nvSpPr>
        <p:spPr>
          <a:xfrm>
            <a:off x="7104888" y="2999232"/>
            <a:ext cx="219456" cy="219456"/>
          </a:xfrm>
          <a:prstGeom prst="rightArrow">
            <a:avLst/>
          </a:prstGeom>
          <a:solidFill>
            <a:schemeClr val="accent3"/>
          </a:solidFill>
          <a:ln w="12700">
            <a:solidFill>
              <a:schemeClr val="accent3"/>
            </a:solidFill>
            <a:prstDash val="solid"/>
          </a:ln>
        </p:spPr>
      </p:sp>
      <p:sp>
        <p:nvSpPr>
          <p:cNvPr id="18" name="KDD stage 4"/>
          <p:cNvSpPr/>
          <p:nvPr/>
        </p:nvSpPr>
        <p:spPr>
          <a:xfrm>
            <a:off x="7374636" y="1737360"/>
            <a:ext cx="1920240" cy="2743200"/>
          </a:xfrm>
          <a:prstGeom prst="roundRect">
            <a:avLst>
              <a:gd name="adj" fmla="val 3810"/>
            </a:avLst>
          </a:prstGeom>
          <a:solidFill>
            <a:schemeClr val="bg2"/>
          </a:solidFill>
          <a:ln w="12700">
            <a:solidFill>
              <a:schemeClr val="bg2"/>
            </a:solidFill>
            <a:prstDash val="solid"/>
          </a:ln>
        </p:spPr>
      </p:sp>
      <p:sp>
        <p:nvSpPr>
          <p:cNvPr id="19" name="Text 17"/>
          <p:cNvSpPr txBox="1"/>
          <p:nvPr/>
        </p:nvSpPr>
        <p:spPr>
          <a:xfrm>
            <a:off x="7557516" y="196596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20" name="Text 18"/>
          <p:cNvSpPr txBox="1"/>
          <p:nvPr/>
        </p:nvSpPr>
        <p:spPr>
          <a:xfrm>
            <a:off x="7557516" y="2651760"/>
            <a:ext cx="1600200" cy="777240"/>
          </a:xfrm>
          <a:prstGeom prst="rect">
            <a:avLst/>
          </a:prstGeom>
          <a:noFill/>
          <a:ln/>
        </p:spPr>
        <p:txBody>
          <a:bodyPr wrap="square" lIns="0" tIns="0" rIns="0" bIns="0" rtlCol="0" anchor="t"/>
          <a:lstStyle/>
          <a:p>
            <a:pPr marL="0" indent="0">
              <a:buNone/>
            </a:pPr>
            <a:r>
              <a:rPr lang="en-US" sz="1700" b="1" dirty="0">
                <a:solidFill>
                  <a:schemeClr val="tx1"/>
                </a:solidFill>
              </a:rPr>
              <a:t>Model Training</a:t>
            </a:r>
            <a:endParaRPr lang="en-US" sz="1700" dirty="0"/>
          </a:p>
        </p:txBody>
      </p:sp>
      <p:sp>
        <p:nvSpPr>
          <p:cNvPr id="21" name="Text 19"/>
          <p:cNvSpPr txBox="1"/>
          <p:nvPr/>
        </p:nvSpPr>
        <p:spPr>
          <a:xfrm>
            <a:off x="7557516" y="3520440"/>
            <a:ext cx="1600200" cy="731520"/>
          </a:xfrm>
          <a:prstGeom prst="rect">
            <a:avLst/>
          </a:prstGeom>
          <a:noFill/>
          <a:ln/>
        </p:spPr>
        <p:txBody>
          <a:bodyPr wrap="square" lIns="0" tIns="0" rIns="0" bIns="0" rtlCol="0" anchor="t"/>
          <a:lstStyle/>
          <a:p>
            <a:pPr marL="0" indent="0">
              <a:buNone/>
            </a:pPr>
            <a:r>
              <a:rPr lang="en-US" sz="1400" dirty="0">
                <a:solidFill>
                  <a:schemeClr val="tx2"/>
                </a:solidFill>
              </a:rPr>
              <a:t>Fit the classifiers</a:t>
            </a:r>
            <a:endParaRPr lang="en-US" sz="1400" dirty="0"/>
          </a:p>
        </p:txBody>
      </p:sp>
      <p:sp>
        <p:nvSpPr>
          <p:cNvPr id="22" name="Shape 20"/>
          <p:cNvSpPr/>
          <p:nvPr/>
        </p:nvSpPr>
        <p:spPr>
          <a:xfrm>
            <a:off x="9349740" y="2999232"/>
            <a:ext cx="219456" cy="219456"/>
          </a:xfrm>
          <a:prstGeom prst="rightArrow">
            <a:avLst/>
          </a:prstGeom>
          <a:solidFill>
            <a:schemeClr val="accent3"/>
          </a:solidFill>
          <a:ln w="12700">
            <a:solidFill>
              <a:schemeClr val="accent3"/>
            </a:solidFill>
            <a:prstDash val="solid"/>
          </a:ln>
        </p:spPr>
      </p:sp>
      <p:sp>
        <p:nvSpPr>
          <p:cNvPr id="23" name="KDD stage 5"/>
          <p:cNvSpPr/>
          <p:nvPr/>
        </p:nvSpPr>
        <p:spPr>
          <a:xfrm>
            <a:off x="9619488" y="1737360"/>
            <a:ext cx="1920240" cy="2743200"/>
          </a:xfrm>
          <a:prstGeom prst="roundRect">
            <a:avLst>
              <a:gd name="adj" fmla="val 3810"/>
            </a:avLst>
          </a:prstGeom>
          <a:solidFill>
            <a:schemeClr val="bg2"/>
          </a:solidFill>
          <a:ln w="12700">
            <a:solidFill>
              <a:schemeClr val="bg2"/>
            </a:solidFill>
            <a:prstDash val="solid"/>
          </a:ln>
        </p:spPr>
      </p:sp>
      <p:sp>
        <p:nvSpPr>
          <p:cNvPr id="24" name="Text 22"/>
          <p:cNvSpPr txBox="1"/>
          <p:nvPr/>
        </p:nvSpPr>
        <p:spPr>
          <a:xfrm>
            <a:off x="9802368" y="196596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800" b="1" dirty="0">
                <a:solidFill>
                  <a:srgbClr val="FFFFFF"/>
                </a:solidFill>
              </a:rPr>
              <a:t>5</a:t>
            </a:r>
            <a:endParaRPr lang="en-US" sz="1800" dirty="0"/>
          </a:p>
        </p:txBody>
      </p:sp>
      <p:sp>
        <p:nvSpPr>
          <p:cNvPr id="25" name="Text 23"/>
          <p:cNvSpPr txBox="1"/>
          <p:nvPr/>
        </p:nvSpPr>
        <p:spPr>
          <a:xfrm>
            <a:off x="9802368" y="2651760"/>
            <a:ext cx="1600200" cy="777240"/>
          </a:xfrm>
          <a:prstGeom prst="rect">
            <a:avLst/>
          </a:prstGeom>
          <a:noFill/>
          <a:ln/>
        </p:spPr>
        <p:txBody>
          <a:bodyPr wrap="square" lIns="0" tIns="0" rIns="0" bIns="0" rtlCol="0" anchor="t"/>
          <a:lstStyle/>
          <a:p>
            <a:pPr marL="0" indent="0">
              <a:buNone/>
            </a:pPr>
            <a:r>
              <a:rPr lang="en-US" sz="1700" b="1" dirty="0">
                <a:solidFill>
                  <a:schemeClr val="tx1"/>
                </a:solidFill>
              </a:rPr>
              <a:t>Evaluation and Interpretation</a:t>
            </a:r>
            <a:endParaRPr lang="en-US" sz="1700" dirty="0"/>
          </a:p>
        </p:txBody>
      </p:sp>
      <p:sp>
        <p:nvSpPr>
          <p:cNvPr id="26" name="Text 24"/>
          <p:cNvSpPr txBox="1"/>
          <p:nvPr/>
        </p:nvSpPr>
        <p:spPr>
          <a:xfrm>
            <a:off x="9802368" y="3520440"/>
            <a:ext cx="1600200" cy="731520"/>
          </a:xfrm>
          <a:prstGeom prst="rect">
            <a:avLst/>
          </a:prstGeom>
          <a:noFill/>
          <a:ln/>
        </p:spPr>
        <p:txBody>
          <a:bodyPr wrap="square" lIns="0" tIns="0" rIns="0" bIns="0" rtlCol="0" anchor="t"/>
          <a:lstStyle/>
          <a:p>
            <a:pPr marL="0" indent="0">
              <a:buNone/>
            </a:pPr>
            <a:r>
              <a:rPr lang="en-US" sz="1400" dirty="0">
                <a:solidFill>
                  <a:schemeClr val="tx2"/>
                </a:solidFill>
              </a:rPr>
              <a:t>Test and interpret results</a:t>
            </a:r>
            <a:endParaRPr lang="en-US" sz="1400" dirty="0"/>
          </a:p>
        </p:txBody>
      </p:sp>
      <p:sp>
        <p:nvSpPr>
          <p:cNvPr id="27" name="Text 25"/>
          <p:cNvSpPr txBox="1"/>
          <p:nvPr/>
        </p:nvSpPr>
        <p:spPr>
          <a:xfrm>
            <a:off x="640080" y="4937760"/>
            <a:ext cx="10881360" cy="914400"/>
          </a:xfrm>
          <a:prstGeom prst="rect">
            <a:avLst/>
          </a:prstGeom>
          <a:noFill/>
          <a:ln/>
        </p:spPr>
        <p:txBody>
          <a:bodyPr wrap="square" lIns="0" tIns="0" rIns="0" bIns="0" rtlCol="0" anchor="t"/>
          <a:lstStyle/>
          <a:p>
            <a:pPr marL="0" indent="0">
              <a:buNone/>
            </a:pPr>
            <a:r>
              <a:rPr lang="en-US" sz="1600" b="1" dirty="0">
                <a:solidFill>
                  <a:schemeClr val="accent1"/>
                </a:solidFill>
              </a:rPr>
              <a:t>KDD</a:t>
            </a:r>
            <a:r>
              <a:rPr lang="en-US" sz="1600" dirty="0">
                <a:solidFill>
                  <a:schemeClr val="tx1"/>
                </a:solidFill>
              </a:rPr>
              <a:t> stands for Knowledge Discovery in Databases. It provides an overall framework for extracting useful patterns from data. The next three slides apply these same five stages to each dataset.</a:t>
            </a:r>
            <a:endParaRPr lang="en-US" sz="1600" dirty="0"/>
          </a:p>
        </p:txBody>
      </p:sp>
      <p:sp>
        <p:nvSpPr>
          <p:cNvPr id="28" name="Slide Number Placeholder 0"/>
          <p:cNvSpPr>
            <a:spLocks noGrp="1"/>
          </p:cNvSpPr>
          <p:nvPr>
            <p:ph type="sldNum" sz="quarter" idx="4294967295"/>
          </p:nvPr>
        </p:nvSpPr>
        <p:spPr>
          <a:xfrm>
            <a:off x="10634472" y="642823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908792" cy="822960"/>
          </a:xfrm>
          <a:prstGeom prst="rect">
            <a:avLst/>
          </a:prstGeom>
          <a:noFill/>
          <a:ln/>
        </p:spPr>
        <p:txBody>
          <a:bodyPr wrap="square" lIns="0" tIns="0" rIns="0" bIns="0" rtlCol="0" anchor="ctr"/>
          <a:lstStyle/>
          <a:p>
            <a:pPr marL="0" indent="0">
              <a:buNone/>
            </a:pPr>
            <a:r>
              <a:rPr lang="en-US" sz="3400" b="1" dirty="0">
                <a:solidFill>
                  <a:schemeClr val="tx1"/>
                </a:solidFill>
              </a:rPr>
              <a:t>KDD Applied to WESAD</a:t>
            </a:r>
            <a:endParaRPr lang="en-US" sz="3400" dirty="0"/>
          </a:p>
        </p:txBody>
      </p:sp>
      <p:sp>
        <p:nvSpPr>
          <p:cNvPr id="3" name="Step: 1   Selection"/>
          <p:cNvSpPr txBox="1"/>
          <p:nvPr/>
        </p:nvSpPr>
        <p:spPr>
          <a:xfrm>
            <a:off x="640080" y="1508760"/>
            <a:ext cx="2286000" cy="713232"/>
          </a:xfrm>
          <a:prstGeom prst="roundRect">
            <a:avLst>
              <a:gd name="adj" fmla="val 10256"/>
            </a:avLst>
          </a:prstGeom>
          <a:solidFill>
            <a:schemeClr val="accent1"/>
          </a:solidFill>
          <a:ln>
            <a:solidFill>
              <a:schemeClr val="accent1"/>
            </a:solidFill>
          </a:ln>
        </p:spPr>
        <p:txBody>
          <a:bodyPr wrap="square" lIns="0" tIns="2540" rIns="0" bIns="0" rtlCol="0" anchor="ctr"/>
          <a:lstStyle/>
          <a:p>
            <a:pPr marL="0" indent="0" algn="l">
              <a:buNone/>
            </a:pPr>
            <a:r>
              <a:rPr lang="en-US" sz="1600" b="1" dirty="0">
                <a:solidFill>
                  <a:srgbClr val="FFFFFF"/>
                </a:solidFill>
              </a:rPr>
              <a:t>1   Selection</a:t>
            </a:r>
            <a:endParaRPr lang="en-US" sz="1600" dirty="0"/>
          </a:p>
        </p:txBody>
      </p:sp>
      <p:sp>
        <p:nvSpPr>
          <p:cNvPr id="4" name="Step detail 1"/>
          <p:cNvSpPr txBox="1"/>
          <p:nvPr/>
        </p:nvSpPr>
        <p:spPr>
          <a:xfrm>
            <a:off x="3200400" y="1508760"/>
            <a:ext cx="4206240" cy="713232"/>
          </a:xfrm>
          <a:prstGeom prst="rect">
            <a:avLst/>
          </a:prstGeom>
          <a:noFill/>
          <a:ln/>
        </p:spPr>
        <p:txBody>
          <a:bodyPr wrap="square" lIns="0" tIns="0" rIns="0" bIns="0" rtlCol="0" anchor="ctr"/>
          <a:lstStyle/>
          <a:p>
            <a:pPr marL="0" indent="0">
              <a:buNone/>
            </a:pPr>
            <a:r>
              <a:rPr lang="en-US" sz="1500" dirty="0">
                <a:solidFill>
                  <a:schemeClr val="tx1"/>
                </a:solidFill>
              </a:rPr>
              <a:t>Baseline and stress observations; amusement excluded</a:t>
            </a:r>
            <a:endParaRPr lang="en-US" sz="1500" dirty="0"/>
          </a:p>
        </p:txBody>
      </p:sp>
      <p:sp>
        <p:nvSpPr>
          <p:cNvPr id="5" name="Shape 3"/>
          <p:cNvSpPr/>
          <p:nvPr/>
        </p:nvSpPr>
        <p:spPr>
          <a:xfrm>
            <a:off x="1673352" y="2249424"/>
            <a:ext cx="219456" cy="128016"/>
          </a:xfrm>
          <a:prstGeom prst="downArrow">
            <a:avLst/>
          </a:prstGeom>
          <a:solidFill>
            <a:schemeClr val="accent4"/>
          </a:solidFill>
          <a:ln w="12700">
            <a:solidFill>
              <a:schemeClr val="accent4"/>
            </a:solidFill>
            <a:prstDash val="solid"/>
          </a:ln>
        </p:spPr>
      </p:sp>
      <p:sp>
        <p:nvSpPr>
          <p:cNvPr id="6" name="Step: 2   Preprocessing"/>
          <p:cNvSpPr txBox="1"/>
          <p:nvPr/>
        </p:nvSpPr>
        <p:spPr>
          <a:xfrm>
            <a:off x="640080" y="2404872"/>
            <a:ext cx="2286000" cy="713232"/>
          </a:xfrm>
          <a:prstGeom prst="roundRect">
            <a:avLst>
              <a:gd name="adj" fmla="val 10256"/>
            </a:avLst>
          </a:prstGeom>
          <a:solidFill>
            <a:schemeClr val="accent1"/>
          </a:solidFill>
          <a:ln>
            <a:solidFill>
              <a:schemeClr val="accent1"/>
            </a:solidFill>
          </a:ln>
        </p:spPr>
        <p:txBody>
          <a:bodyPr wrap="square" lIns="0" tIns="2540" rIns="0" bIns="0" rtlCol="0" anchor="ctr"/>
          <a:lstStyle/>
          <a:p>
            <a:pPr marL="0" indent="0" algn="l">
              <a:buNone/>
            </a:pPr>
            <a:r>
              <a:rPr lang="en-US" sz="1600" b="1" dirty="0">
                <a:solidFill>
                  <a:srgbClr val="FFFFFF"/>
                </a:solidFill>
              </a:rPr>
              <a:t>2   Preprocessing</a:t>
            </a:r>
            <a:endParaRPr lang="en-US" sz="1600" dirty="0"/>
          </a:p>
        </p:txBody>
      </p:sp>
      <p:sp>
        <p:nvSpPr>
          <p:cNvPr id="7" name="Step detail 2"/>
          <p:cNvSpPr txBox="1"/>
          <p:nvPr/>
        </p:nvSpPr>
        <p:spPr>
          <a:xfrm>
            <a:off x="3200400" y="2404872"/>
            <a:ext cx="4206240" cy="713232"/>
          </a:xfrm>
          <a:prstGeom prst="rect">
            <a:avLst/>
          </a:prstGeom>
          <a:noFill/>
          <a:ln/>
        </p:spPr>
        <p:txBody>
          <a:bodyPr wrap="square" lIns="0" tIns="0" rIns="0" bIns="0" rtlCol="0" anchor="ctr"/>
          <a:lstStyle/>
          <a:p>
            <a:pPr marL="0" indent="0">
              <a:buNone/>
            </a:pPr>
            <a:r>
              <a:rPr lang="en-US" sz="1500" dirty="0">
                <a:solidFill>
                  <a:schemeClr val="tx1"/>
                </a:solidFill>
              </a:rPr>
              <a:t>Fixed-length 60-second windows with a 10-second stride</a:t>
            </a:r>
            <a:endParaRPr lang="en-US" sz="1500" dirty="0"/>
          </a:p>
        </p:txBody>
      </p:sp>
      <p:sp>
        <p:nvSpPr>
          <p:cNvPr id="8" name="Shape 6"/>
          <p:cNvSpPr/>
          <p:nvPr/>
        </p:nvSpPr>
        <p:spPr>
          <a:xfrm>
            <a:off x="1673352" y="3145536"/>
            <a:ext cx="219456" cy="128016"/>
          </a:xfrm>
          <a:prstGeom prst="downArrow">
            <a:avLst/>
          </a:prstGeom>
          <a:solidFill>
            <a:schemeClr val="accent4"/>
          </a:solidFill>
          <a:ln w="12700">
            <a:solidFill>
              <a:schemeClr val="accent4"/>
            </a:solidFill>
            <a:prstDash val="solid"/>
          </a:ln>
        </p:spPr>
      </p:sp>
      <p:sp>
        <p:nvSpPr>
          <p:cNvPr id="9" name="Step: 3   Feature engineering"/>
          <p:cNvSpPr txBox="1"/>
          <p:nvPr/>
        </p:nvSpPr>
        <p:spPr>
          <a:xfrm>
            <a:off x="640080" y="3300984"/>
            <a:ext cx="2286000" cy="713232"/>
          </a:xfrm>
          <a:prstGeom prst="roundRect">
            <a:avLst>
              <a:gd name="adj" fmla="val 10256"/>
            </a:avLst>
          </a:prstGeom>
          <a:solidFill>
            <a:schemeClr val="accent1"/>
          </a:solidFill>
          <a:ln>
            <a:solidFill>
              <a:schemeClr val="accent1"/>
            </a:solidFill>
          </a:ln>
        </p:spPr>
        <p:txBody>
          <a:bodyPr wrap="square" lIns="0" tIns="2540" rIns="0" bIns="0" rtlCol="0" anchor="ctr"/>
          <a:lstStyle/>
          <a:p>
            <a:pPr marL="0" indent="0" algn="l">
              <a:buNone/>
            </a:pPr>
            <a:r>
              <a:rPr lang="en-US" sz="1600" b="1" dirty="0">
                <a:solidFill>
                  <a:srgbClr val="FFFFFF"/>
                </a:solidFill>
              </a:rPr>
              <a:t>3   Feature engineering</a:t>
            </a:r>
            <a:endParaRPr lang="en-US" sz="1600" dirty="0"/>
          </a:p>
        </p:txBody>
      </p:sp>
      <p:sp>
        <p:nvSpPr>
          <p:cNvPr id="10" name="Step detail 3"/>
          <p:cNvSpPr txBox="1"/>
          <p:nvPr/>
        </p:nvSpPr>
        <p:spPr>
          <a:xfrm>
            <a:off x="3200400" y="3300984"/>
            <a:ext cx="4206240" cy="713232"/>
          </a:xfrm>
          <a:prstGeom prst="rect">
            <a:avLst/>
          </a:prstGeom>
          <a:noFill/>
          <a:ln/>
        </p:spPr>
        <p:txBody>
          <a:bodyPr wrap="square" lIns="0" tIns="0" rIns="0" bIns="0" rtlCol="0" anchor="ctr"/>
          <a:lstStyle/>
          <a:p>
            <a:pPr marL="0" indent="0">
              <a:buNone/>
            </a:pPr>
            <a:r>
              <a:rPr lang="en-US" sz="1500" dirty="0">
                <a:solidFill>
                  <a:schemeClr val="tx1"/>
                </a:solidFill>
              </a:rPr>
              <a:t>9 statistical features × 16 physiological channels = 144 predictors per window</a:t>
            </a:r>
            <a:endParaRPr lang="en-US" sz="1500" dirty="0"/>
          </a:p>
        </p:txBody>
      </p:sp>
      <p:sp>
        <p:nvSpPr>
          <p:cNvPr id="11" name="Shape 9"/>
          <p:cNvSpPr/>
          <p:nvPr/>
        </p:nvSpPr>
        <p:spPr>
          <a:xfrm>
            <a:off x="1673352" y="4041648"/>
            <a:ext cx="219456" cy="128016"/>
          </a:xfrm>
          <a:prstGeom prst="downArrow">
            <a:avLst/>
          </a:prstGeom>
          <a:solidFill>
            <a:schemeClr val="accent4"/>
          </a:solidFill>
          <a:ln w="12700">
            <a:solidFill>
              <a:schemeClr val="accent4"/>
            </a:solidFill>
            <a:prstDash val="solid"/>
          </a:ln>
        </p:spPr>
      </p:sp>
      <p:sp>
        <p:nvSpPr>
          <p:cNvPr id="12" name="Step: 4   Modeling"/>
          <p:cNvSpPr txBox="1"/>
          <p:nvPr/>
        </p:nvSpPr>
        <p:spPr>
          <a:xfrm>
            <a:off x="640080" y="4197096"/>
            <a:ext cx="2286000" cy="713232"/>
          </a:xfrm>
          <a:prstGeom prst="roundRect">
            <a:avLst>
              <a:gd name="adj" fmla="val 10256"/>
            </a:avLst>
          </a:prstGeom>
          <a:solidFill>
            <a:schemeClr val="accent1"/>
          </a:solidFill>
          <a:ln>
            <a:solidFill>
              <a:schemeClr val="accent1"/>
            </a:solidFill>
          </a:ln>
        </p:spPr>
        <p:txBody>
          <a:bodyPr wrap="square" lIns="0" tIns="2540" rIns="0" bIns="0" rtlCol="0" anchor="ctr"/>
          <a:lstStyle/>
          <a:p>
            <a:pPr marL="0" indent="0" algn="l">
              <a:buNone/>
            </a:pPr>
            <a:r>
              <a:rPr lang="en-US" sz="1600" b="1" dirty="0">
                <a:solidFill>
                  <a:srgbClr val="FFFFFF"/>
                </a:solidFill>
              </a:rPr>
              <a:t>4   Modeling</a:t>
            </a:r>
            <a:endParaRPr lang="en-US" sz="1600" dirty="0"/>
          </a:p>
        </p:txBody>
      </p:sp>
      <p:sp>
        <p:nvSpPr>
          <p:cNvPr id="13" name="Step detail 4"/>
          <p:cNvSpPr txBox="1"/>
          <p:nvPr/>
        </p:nvSpPr>
        <p:spPr>
          <a:xfrm>
            <a:off x="3200400" y="4197096"/>
            <a:ext cx="4206240" cy="713232"/>
          </a:xfrm>
          <a:prstGeom prst="rect">
            <a:avLst/>
          </a:prstGeom>
          <a:noFill/>
          <a:ln/>
        </p:spPr>
        <p:txBody>
          <a:bodyPr wrap="square" lIns="0" tIns="0" rIns="0" bIns="0" rtlCol="0" anchor="ctr"/>
          <a:lstStyle/>
          <a:p>
            <a:pPr marL="0" indent="0">
              <a:buNone/>
            </a:pPr>
            <a:r>
              <a:rPr lang="en-US" sz="1500" dirty="0">
                <a:solidFill>
                  <a:schemeClr val="tx1"/>
                </a:solidFill>
              </a:rPr>
              <a:t>Logistic Regression, Random Forest, HistGradientBoosting</a:t>
            </a:r>
            <a:endParaRPr lang="en-US" sz="1500" dirty="0"/>
          </a:p>
        </p:txBody>
      </p:sp>
      <p:sp>
        <p:nvSpPr>
          <p:cNvPr id="14" name="Shape 12"/>
          <p:cNvSpPr/>
          <p:nvPr/>
        </p:nvSpPr>
        <p:spPr>
          <a:xfrm>
            <a:off x="1673352" y="4937760"/>
            <a:ext cx="219456" cy="128016"/>
          </a:xfrm>
          <a:prstGeom prst="downArrow">
            <a:avLst/>
          </a:prstGeom>
          <a:solidFill>
            <a:schemeClr val="accent4"/>
          </a:solidFill>
          <a:ln w="12700">
            <a:solidFill>
              <a:schemeClr val="accent4"/>
            </a:solidFill>
            <a:prstDash val="solid"/>
          </a:ln>
        </p:spPr>
      </p:sp>
      <p:sp>
        <p:nvSpPr>
          <p:cNvPr id="15" name="Step: 5   Evaluation"/>
          <p:cNvSpPr txBox="1"/>
          <p:nvPr/>
        </p:nvSpPr>
        <p:spPr>
          <a:xfrm>
            <a:off x="640080" y="5093208"/>
            <a:ext cx="2286000" cy="713232"/>
          </a:xfrm>
          <a:prstGeom prst="roundRect">
            <a:avLst>
              <a:gd name="adj" fmla="val 10256"/>
            </a:avLst>
          </a:prstGeom>
          <a:solidFill>
            <a:schemeClr val="accent1"/>
          </a:solidFill>
          <a:ln>
            <a:solidFill>
              <a:schemeClr val="accent1"/>
            </a:solidFill>
          </a:ln>
        </p:spPr>
        <p:txBody>
          <a:bodyPr wrap="square" lIns="0" tIns="2540" rIns="0" bIns="0" rtlCol="0" anchor="ctr"/>
          <a:lstStyle/>
          <a:p>
            <a:pPr marL="0" indent="0" algn="l">
              <a:buNone/>
            </a:pPr>
            <a:r>
              <a:rPr lang="en-US" sz="1600" b="1" dirty="0">
                <a:solidFill>
                  <a:srgbClr val="FFFFFF"/>
                </a:solidFill>
              </a:rPr>
              <a:t>5   Evaluation</a:t>
            </a:r>
            <a:endParaRPr lang="en-US" sz="1600" dirty="0"/>
          </a:p>
        </p:txBody>
      </p:sp>
      <p:sp>
        <p:nvSpPr>
          <p:cNvPr id="16" name="Step detail 5"/>
          <p:cNvSpPr txBox="1"/>
          <p:nvPr/>
        </p:nvSpPr>
        <p:spPr>
          <a:xfrm>
            <a:off x="3200400" y="5093208"/>
            <a:ext cx="4206240" cy="713232"/>
          </a:xfrm>
          <a:prstGeom prst="rect">
            <a:avLst/>
          </a:prstGeom>
          <a:noFill/>
          <a:ln/>
        </p:spPr>
        <p:txBody>
          <a:bodyPr wrap="square" lIns="0" tIns="0" rIns="0" bIns="0" rtlCol="0" anchor="ctr"/>
          <a:lstStyle/>
          <a:p>
            <a:pPr marL="0" indent="0">
              <a:buNone/>
            </a:pPr>
            <a:r>
              <a:rPr lang="en-US" sz="1500" dirty="0">
                <a:solidFill>
                  <a:schemeClr val="tx1"/>
                </a:solidFill>
              </a:rPr>
              <a:t>Leave-One-Subject-Out (LOSO) cross-validation</a:t>
            </a:r>
            <a:endParaRPr lang="en-US" sz="1500" dirty="0"/>
          </a:p>
        </p:txBody>
      </p:sp>
      <p:sp>
        <p:nvSpPr>
          <p:cNvPr id="17" name="WESAD summary card"/>
          <p:cNvSpPr/>
          <p:nvPr/>
        </p:nvSpPr>
        <p:spPr>
          <a:xfrm>
            <a:off x="7863840" y="1508760"/>
            <a:ext cx="3685032" cy="1636776"/>
          </a:xfrm>
          <a:prstGeom prst="roundRect">
            <a:avLst>
              <a:gd name="adj" fmla="val 4103"/>
            </a:avLst>
          </a:prstGeom>
          <a:solidFill>
            <a:schemeClr val="bg2"/>
          </a:solidFill>
          <a:ln w="12700">
            <a:solidFill>
              <a:schemeClr val="bg2"/>
            </a:solidFill>
            <a:prstDash val="solid"/>
          </a:ln>
        </p:spPr>
      </p:sp>
      <p:sp>
        <p:nvSpPr>
          <p:cNvPr id="18" name="Text 16"/>
          <p:cNvSpPr txBox="1"/>
          <p:nvPr/>
        </p:nvSpPr>
        <p:spPr>
          <a:xfrm>
            <a:off x="8092440" y="1645920"/>
            <a:ext cx="1554480" cy="548640"/>
          </a:xfrm>
          <a:prstGeom prst="rect">
            <a:avLst/>
          </a:prstGeom>
          <a:noFill/>
          <a:ln/>
        </p:spPr>
        <p:txBody>
          <a:bodyPr wrap="square" lIns="0" tIns="0" rIns="0" bIns="0" rtlCol="0" anchor="ctr"/>
          <a:lstStyle/>
          <a:p>
            <a:pPr marL="0" indent="0">
              <a:buNone/>
            </a:pPr>
            <a:r>
              <a:rPr lang="en-US" sz="3400" b="1" dirty="0">
                <a:solidFill>
                  <a:schemeClr val="accent1"/>
                </a:solidFill>
              </a:rPr>
              <a:t>2,575</a:t>
            </a:r>
            <a:endParaRPr lang="en-US" sz="3400" dirty="0"/>
          </a:p>
        </p:txBody>
      </p:sp>
      <p:sp>
        <p:nvSpPr>
          <p:cNvPr id="19" name="Text 17"/>
          <p:cNvSpPr txBox="1"/>
          <p:nvPr/>
        </p:nvSpPr>
        <p:spPr>
          <a:xfrm>
            <a:off x="8092440" y="2194560"/>
            <a:ext cx="1554480" cy="274320"/>
          </a:xfrm>
          <a:prstGeom prst="rect">
            <a:avLst/>
          </a:prstGeom>
          <a:noFill/>
          <a:ln/>
        </p:spPr>
        <p:txBody>
          <a:bodyPr wrap="square" lIns="0" tIns="0" rIns="0" bIns="0" rtlCol="0" anchor="t"/>
          <a:lstStyle/>
          <a:p>
            <a:pPr marL="0" indent="0">
              <a:buNone/>
            </a:pPr>
            <a:r>
              <a:rPr lang="en-US" sz="1400" dirty="0">
                <a:solidFill>
                  <a:schemeClr val="tx2"/>
                </a:solidFill>
              </a:rPr>
              <a:t>windows</a:t>
            </a:r>
            <a:endParaRPr lang="en-US" sz="1400" dirty="0"/>
          </a:p>
        </p:txBody>
      </p:sp>
      <p:sp>
        <p:nvSpPr>
          <p:cNvPr id="20" name="Text 18"/>
          <p:cNvSpPr txBox="1"/>
          <p:nvPr/>
        </p:nvSpPr>
        <p:spPr>
          <a:xfrm>
            <a:off x="9784080" y="1645920"/>
            <a:ext cx="1554480" cy="548640"/>
          </a:xfrm>
          <a:prstGeom prst="rect">
            <a:avLst/>
          </a:prstGeom>
          <a:noFill/>
          <a:ln/>
        </p:spPr>
        <p:txBody>
          <a:bodyPr wrap="square" lIns="0" tIns="0" rIns="0" bIns="0" rtlCol="0" anchor="ctr"/>
          <a:lstStyle/>
          <a:p>
            <a:pPr marL="0" indent="0">
              <a:buNone/>
            </a:pPr>
            <a:r>
              <a:rPr lang="en-US" sz="3400" b="1" dirty="0">
                <a:solidFill>
                  <a:schemeClr val="accent1"/>
                </a:solidFill>
              </a:rPr>
              <a:t>15</a:t>
            </a:r>
            <a:endParaRPr lang="en-US" sz="3400" dirty="0"/>
          </a:p>
        </p:txBody>
      </p:sp>
      <p:sp>
        <p:nvSpPr>
          <p:cNvPr id="21" name="Text 19"/>
          <p:cNvSpPr txBox="1"/>
          <p:nvPr/>
        </p:nvSpPr>
        <p:spPr>
          <a:xfrm>
            <a:off x="9784080" y="2194560"/>
            <a:ext cx="1554480" cy="274320"/>
          </a:xfrm>
          <a:prstGeom prst="rect">
            <a:avLst/>
          </a:prstGeom>
          <a:noFill/>
          <a:ln/>
        </p:spPr>
        <p:txBody>
          <a:bodyPr wrap="square" lIns="0" tIns="0" rIns="0" bIns="0" rtlCol="0" anchor="t"/>
          <a:lstStyle/>
          <a:p>
            <a:pPr marL="0" indent="0">
              <a:buNone/>
            </a:pPr>
            <a:r>
              <a:rPr lang="en-US" sz="1400" dirty="0">
                <a:solidFill>
                  <a:schemeClr val="tx2"/>
                </a:solidFill>
              </a:rPr>
              <a:t>participants</a:t>
            </a:r>
            <a:endParaRPr lang="en-US" sz="1400" dirty="0"/>
          </a:p>
        </p:txBody>
      </p:sp>
      <p:sp>
        <p:nvSpPr>
          <p:cNvPr id="22" name="Text 20"/>
          <p:cNvSpPr txBox="1"/>
          <p:nvPr/>
        </p:nvSpPr>
        <p:spPr>
          <a:xfrm>
            <a:off x="8092440" y="2697480"/>
            <a:ext cx="3291840" cy="365760"/>
          </a:xfrm>
          <a:prstGeom prst="rect">
            <a:avLst/>
          </a:prstGeom>
          <a:noFill/>
          <a:ln/>
        </p:spPr>
        <p:txBody>
          <a:bodyPr wrap="square" lIns="0" tIns="0" rIns="0" bIns="0" rtlCol="0" anchor="t"/>
          <a:lstStyle/>
          <a:p>
            <a:pPr marL="0" indent="0">
              <a:buNone/>
            </a:pPr>
            <a:r>
              <a:rPr lang="en-US" sz="1400" b="1" dirty="0">
                <a:solidFill>
                  <a:schemeClr val="tx1"/>
                </a:solidFill>
              </a:rPr>
              <a:t>1,671 baseline  ·  904 stress windows</a:t>
            </a:r>
            <a:endParaRPr lang="en-US" sz="1400" dirty="0"/>
          </a:p>
        </p:txBody>
      </p:sp>
      <p:sp>
        <p:nvSpPr>
          <p:cNvPr id="25" name="Slide Number Placeholder 0"/>
          <p:cNvSpPr>
            <a:spLocks noGrp="1"/>
          </p:cNvSpPr>
          <p:nvPr>
            <p:ph type="sldNum" sz="quarter" idx="4294967295"/>
          </p:nvPr>
        </p:nvSpPr>
        <p:spPr>
          <a:xfrm>
            <a:off x="10634472" y="642823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908792" cy="822960"/>
          </a:xfrm>
          <a:prstGeom prst="rect">
            <a:avLst/>
          </a:prstGeom>
          <a:noFill/>
          <a:ln/>
        </p:spPr>
        <p:txBody>
          <a:bodyPr wrap="square" lIns="0" tIns="0" rIns="0" bIns="0" rtlCol="0" anchor="ctr"/>
          <a:lstStyle/>
          <a:p>
            <a:pPr marL="0" indent="0">
              <a:buNone/>
            </a:pPr>
            <a:r>
              <a:rPr lang="en-US" sz="3400" b="1" dirty="0">
                <a:solidFill>
                  <a:schemeClr val="tx1"/>
                </a:solidFill>
              </a:rPr>
              <a:t>KDD Applied to QoL_Stress</a:t>
            </a:r>
            <a:endParaRPr lang="en-US" sz="3400" dirty="0"/>
          </a:p>
        </p:txBody>
      </p:sp>
      <p:sp>
        <p:nvSpPr>
          <p:cNvPr id="3" name="Step: 1   Selection"/>
          <p:cNvSpPr txBox="1"/>
          <p:nvPr/>
        </p:nvSpPr>
        <p:spPr>
          <a:xfrm>
            <a:off x="640080" y="1508760"/>
            <a:ext cx="2286000" cy="713232"/>
          </a:xfrm>
          <a:prstGeom prst="roundRect">
            <a:avLst>
              <a:gd name="adj" fmla="val 10256"/>
            </a:avLst>
          </a:prstGeom>
          <a:solidFill>
            <a:schemeClr val="accent1"/>
          </a:solidFill>
          <a:ln>
            <a:solidFill>
              <a:schemeClr val="accent1"/>
            </a:solidFill>
          </a:ln>
        </p:spPr>
        <p:txBody>
          <a:bodyPr wrap="square" lIns="0" tIns="2540" rIns="0" bIns="0" rtlCol="0" anchor="ctr"/>
          <a:lstStyle/>
          <a:p>
            <a:pPr marL="0" indent="0" algn="l">
              <a:buNone/>
            </a:pPr>
            <a:r>
              <a:rPr lang="en-US" sz="1600" b="1" dirty="0">
                <a:solidFill>
                  <a:srgbClr val="FFFFFF"/>
                </a:solidFill>
              </a:rPr>
              <a:t>1   Selection</a:t>
            </a:r>
            <a:endParaRPr lang="en-US" sz="1600" dirty="0"/>
          </a:p>
        </p:txBody>
      </p:sp>
      <p:sp>
        <p:nvSpPr>
          <p:cNvPr id="4" name="Step detail 1"/>
          <p:cNvSpPr txBox="1"/>
          <p:nvPr/>
        </p:nvSpPr>
        <p:spPr>
          <a:xfrm>
            <a:off x="3200400" y="1508760"/>
            <a:ext cx="4206240" cy="713232"/>
          </a:xfrm>
          <a:prstGeom prst="rect">
            <a:avLst/>
          </a:prstGeom>
          <a:noFill/>
          <a:ln/>
        </p:spPr>
        <p:txBody>
          <a:bodyPr wrap="square" lIns="0" tIns="0" rIns="0" bIns="0" rtlCol="0" anchor="ctr"/>
          <a:lstStyle/>
          <a:p>
            <a:pPr marL="0" indent="0">
              <a:buNone/>
            </a:pPr>
            <a:r>
              <a:rPr lang="en-US" sz="1500" dirty="0">
                <a:solidFill>
                  <a:schemeClr val="tx1"/>
                </a:solidFill>
              </a:rPr>
              <a:t>Relaxation and stress sessions</a:t>
            </a:r>
            <a:endParaRPr lang="en-US" sz="1500" dirty="0"/>
          </a:p>
        </p:txBody>
      </p:sp>
      <p:sp>
        <p:nvSpPr>
          <p:cNvPr id="5" name="Shape 3"/>
          <p:cNvSpPr/>
          <p:nvPr/>
        </p:nvSpPr>
        <p:spPr>
          <a:xfrm>
            <a:off x="1673352" y="2249424"/>
            <a:ext cx="219456" cy="128016"/>
          </a:xfrm>
          <a:prstGeom prst="downArrow">
            <a:avLst/>
          </a:prstGeom>
          <a:solidFill>
            <a:schemeClr val="accent4"/>
          </a:solidFill>
          <a:ln w="12700">
            <a:solidFill>
              <a:schemeClr val="accent4"/>
            </a:solidFill>
            <a:prstDash val="solid"/>
          </a:ln>
        </p:spPr>
      </p:sp>
      <p:sp>
        <p:nvSpPr>
          <p:cNvPr id="6" name="Step: 2   Preprocessing"/>
          <p:cNvSpPr txBox="1"/>
          <p:nvPr/>
        </p:nvSpPr>
        <p:spPr>
          <a:xfrm>
            <a:off x="640080" y="2404872"/>
            <a:ext cx="2286000" cy="713232"/>
          </a:xfrm>
          <a:prstGeom prst="roundRect">
            <a:avLst>
              <a:gd name="adj" fmla="val 10256"/>
            </a:avLst>
          </a:prstGeom>
          <a:solidFill>
            <a:schemeClr val="accent1"/>
          </a:solidFill>
          <a:ln>
            <a:solidFill>
              <a:schemeClr val="accent1"/>
            </a:solidFill>
          </a:ln>
        </p:spPr>
        <p:txBody>
          <a:bodyPr wrap="square" lIns="0" tIns="2540" rIns="0" bIns="0" rtlCol="0" anchor="ctr"/>
          <a:lstStyle/>
          <a:p>
            <a:pPr marL="0" indent="0" algn="l">
              <a:buNone/>
            </a:pPr>
            <a:r>
              <a:rPr lang="en-US" sz="1600" b="1" dirty="0">
                <a:solidFill>
                  <a:srgbClr val="FFFFFF"/>
                </a:solidFill>
              </a:rPr>
              <a:t>2   Preprocessing</a:t>
            </a:r>
            <a:endParaRPr lang="en-US" sz="1600" dirty="0"/>
          </a:p>
        </p:txBody>
      </p:sp>
      <p:sp>
        <p:nvSpPr>
          <p:cNvPr id="7" name="Step detail 2"/>
          <p:cNvSpPr txBox="1"/>
          <p:nvPr/>
        </p:nvSpPr>
        <p:spPr>
          <a:xfrm>
            <a:off x="3200400" y="2404872"/>
            <a:ext cx="4206240" cy="713232"/>
          </a:xfrm>
          <a:prstGeom prst="rect">
            <a:avLst/>
          </a:prstGeom>
          <a:noFill/>
          <a:ln/>
        </p:spPr>
        <p:txBody>
          <a:bodyPr wrap="square" lIns="0" tIns="0" rIns="0" bIns="0" rtlCol="0" anchor="ctr"/>
          <a:lstStyle/>
          <a:p>
            <a:pPr marL="0" indent="0">
              <a:buNone/>
            </a:pPr>
            <a:r>
              <a:rPr lang="en-US" sz="1500" dirty="0">
                <a:solidFill>
                  <a:schemeClr val="tx1"/>
                </a:solidFill>
              </a:rPr>
              <a:t>Session-level records; unsuitable or potentially misleading variables excluded</a:t>
            </a:r>
            <a:endParaRPr lang="en-US" sz="1500" dirty="0"/>
          </a:p>
        </p:txBody>
      </p:sp>
      <p:sp>
        <p:nvSpPr>
          <p:cNvPr id="8" name="Shape 6"/>
          <p:cNvSpPr/>
          <p:nvPr/>
        </p:nvSpPr>
        <p:spPr>
          <a:xfrm>
            <a:off x="1673352" y="3145536"/>
            <a:ext cx="219456" cy="128016"/>
          </a:xfrm>
          <a:prstGeom prst="downArrow">
            <a:avLst/>
          </a:prstGeom>
          <a:solidFill>
            <a:schemeClr val="accent4"/>
          </a:solidFill>
          <a:ln w="12700">
            <a:solidFill>
              <a:schemeClr val="accent4"/>
            </a:solidFill>
            <a:prstDash val="solid"/>
          </a:ln>
        </p:spPr>
      </p:sp>
      <p:sp>
        <p:nvSpPr>
          <p:cNvPr id="9" name="Step: 3   Feature engineering"/>
          <p:cNvSpPr txBox="1"/>
          <p:nvPr/>
        </p:nvSpPr>
        <p:spPr>
          <a:xfrm>
            <a:off x="640080" y="3300984"/>
            <a:ext cx="2286000" cy="713232"/>
          </a:xfrm>
          <a:prstGeom prst="roundRect">
            <a:avLst>
              <a:gd name="adj" fmla="val 10256"/>
            </a:avLst>
          </a:prstGeom>
          <a:solidFill>
            <a:schemeClr val="accent1"/>
          </a:solidFill>
          <a:ln>
            <a:solidFill>
              <a:schemeClr val="accent1"/>
            </a:solidFill>
          </a:ln>
        </p:spPr>
        <p:txBody>
          <a:bodyPr wrap="square" lIns="0" tIns="2540" rIns="0" bIns="0" rtlCol="0" anchor="ctr"/>
          <a:lstStyle/>
          <a:p>
            <a:pPr marL="0" indent="0" algn="l">
              <a:buNone/>
            </a:pPr>
            <a:r>
              <a:rPr lang="en-US" sz="1600" b="1" dirty="0">
                <a:solidFill>
                  <a:srgbClr val="FFFFFF"/>
                </a:solidFill>
              </a:rPr>
              <a:t>3   Feature engineering</a:t>
            </a:r>
            <a:endParaRPr lang="en-US" sz="1600" dirty="0"/>
          </a:p>
        </p:txBody>
      </p:sp>
      <p:sp>
        <p:nvSpPr>
          <p:cNvPr id="10" name="Step detail 3"/>
          <p:cNvSpPr txBox="1"/>
          <p:nvPr/>
        </p:nvSpPr>
        <p:spPr>
          <a:xfrm>
            <a:off x="3200400" y="3300984"/>
            <a:ext cx="4206240" cy="713232"/>
          </a:xfrm>
          <a:prstGeom prst="rect">
            <a:avLst/>
          </a:prstGeom>
          <a:noFill/>
          <a:ln/>
        </p:spPr>
        <p:txBody>
          <a:bodyPr wrap="square" lIns="0" tIns="0" rIns="0" bIns="0" rtlCol="0" anchor="ctr"/>
          <a:lstStyle/>
          <a:p>
            <a:pPr marL="0" indent="0">
              <a:buNone/>
            </a:pPr>
            <a:r>
              <a:rPr lang="en-US" sz="1500" dirty="0">
                <a:solidFill>
                  <a:schemeClr val="tx1"/>
                </a:solidFill>
              </a:rPr>
              <a:t>25 primary physiological predictors: 15 ECG/HRV-related and 10 EDA-related</a:t>
            </a:r>
            <a:endParaRPr lang="en-US" sz="1500" dirty="0"/>
          </a:p>
        </p:txBody>
      </p:sp>
      <p:sp>
        <p:nvSpPr>
          <p:cNvPr id="11" name="Shape 9"/>
          <p:cNvSpPr/>
          <p:nvPr/>
        </p:nvSpPr>
        <p:spPr>
          <a:xfrm>
            <a:off x="1673352" y="4041648"/>
            <a:ext cx="219456" cy="128016"/>
          </a:xfrm>
          <a:prstGeom prst="downArrow">
            <a:avLst/>
          </a:prstGeom>
          <a:solidFill>
            <a:schemeClr val="accent4"/>
          </a:solidFill>
          <a:ln w="12700">
            <a:solidFill>
              <a:schemeClr val="accent4"/>
            </a:solidFill>
            <a:prstDash val="solid"/>
          </a:ln>
        </p:spPr>
      </p:sp>
      <p:sp>
        <p:nvSpPr>
          <p:cNvPr id="12" name="Step: 4   Modeling"/>
          <p:cNvSpPr txBox="1"/>
          <p:nvPr/>
        </p:nvSpPr>
        <p:spPr>
          <a:xfrm>
            <a:off x="640080" y="4197096"/>
            <a:ext cx="2286000" cy="713232"/>
          </a:xfrm>
          <a:prstGeom prst="roundRect">
            <a:avLst>
              <a:gd name="adj" fmla="val 10256"/>
            </a:avLst>
          </a:prstGeom>
          <a:solidFill>
            <a:schemeClr val="accent1"/>
          </a:solidFill>
          <a:ln>
            <a:solidFill>
              <a:schemeClr val="accent1"/>
            </a:solidFill>
          </a:ln>
        </p:spPr>
        <p:txBody>
          <a:bodyPr wrap="square" lIns="0" tIns="2540" rIns="0" bIns="0" rtlCol="0" anchor="ctr"/>
          <a:lstStyle/>
          <a:p>
            <a:pPr marL="0" indent="0" algn="l">
              <a:buNone/>
            </a:pPr>
            <a:r>
              <a:rPr lang="en-US" sz="1600" b="1" dirty="0">
                <a:solidFill>
                  <a:srgbClr val="FFFFFF"/>
                </a:solidFill>
              </a:rPr>
              <a:t>4   Modeling</a:t>
            </a:r>
            <a:endParaRPr lang="en-US" sz="1600" dirty="0"/>
          </a:p>
        </p:txBody>
      </p:sp>
      <p:sp>
        <p:nvSpPr>
          <p:cNvPr id="13" name="Step detail 4"/>
          <p:cNvSpPr txBox="1"/>
          <p:nvPr/>
        </p:nvSpPr>
        <p:spPr>
          <a:xfrm>
            <a:off x="3200400" y="4197096"/>
            <a:ext cx="4206240" cy="713232"/>
          </a:xfrm>
          <a:prstGeom prst="rect">
            <a:avLst/>
          </a:prstGeom>
          <a:noFill/>
          <a:ln/>
        </p:spPr>
        <p:txBody>
          <a:bodyPr wrap="square" lIns="0" tIns="0" rIns="0" bIns="0" rtlCol="0" anchor="ctr"/>
          <a:lstStyle/>
          <a:p>
            <a:pPr marL="0" indent="0">
              <a:buNone/>
            </a:pPr>
            <a:r>
              <a:rPr lang="en-US" sz="1500" dirty="0">
                <a:solidFill>
                  <a:schemeClr val="tx1"/>
                </a:solidFill>
              </a:rPr>
              <a:t>The same three classification algorithms as WESAD</a:t>
            </a:r>
            <a:endParaRPr lang="en-US" sz="1500" dirty="0"/>
          </a:p>
        </p:txBody>
      </p:sp>
      <p:sp>
        <p:nvSpPr>
          <p:cNvPr id="14" name="Shape 12"/>
          <p:cNvSpPr/>
          <p:nvPr/>
        </p:nvSpPr>
        <p:spPr>
          <a:xfrm>
            <a:off x="1673352" y="4937760"/>
            <a:ext cx="219456" cy="128016"/>
          </a:xfrm>
          <a:prstGeom prst="downArrow">
            <a:avLst/>
          </a:prstGeom>
          <a:solidFill>
            <a:schemeClr val="accent4"/>
          </a:solidFill>
          <a:ln w="12700">
            <a:solidFill>
              <a:schemeClr val="accent4"/>
            </a:solidFill>
            <a:prstDash val="solid"/>
          </a:ln>
        </p:spPr>
      </p:sp>
      <p:sp>
        <p:nvSpPr>
          <p:cNvPr id="15" name="Step: 5   Evaluation"/>
          <p:cNvSpPr txBox="1"/>
          <p:nvPr/>
        </p:nvSpPr>
        <p:spPr>
          <a:xfrm>
            <a:off x="640080" y="5093208"/>
            <a:ext cx="2286000" cy="713232"/>
          </a:xfrm>
          <a:prstGeom prst="roundRect">
            <a:avLst>
              <a:gd name="adj" fmla="val 10256"/>
            </a:avLst>
          </a:prstGeom>
          <a:solidFill>
            <a:schemeClr val="accent1"/>
          </a:solidFill>
          <a:ln>
            <a:solidFill>
              <a:schemeClr val="accent1"/>
            </a:solidFill>
          </a:ln>
        </p:spPr>
        <p:txBody>
          <a:bodyPr wrap="square" lIns="0" tIns="2540" rIns="0" bIns="0" rtlCol="0" anchor="ctr"/>
          <a:lstStyle/>
          <a:p>
            <a:pPr marL="0" indent="0" algn="l">
              <a:buNone/>
            </a:pPr>
            <a:r>
              <a:rPr lang="en-US" sz="1600" b="1" dirty="0">
                <a:solidFill>
                  <a:srgbClr val="FFFFFF"/>
                </a:solidFill>
              </a:rPr>
              <a:t>5   Evaluation</a:t>
            </a:r>
            <a:endParaRPr lang="en-US" sz="1600" dirty="0"/>
          </a:p>
        </p:txBody>
      </p:sp>
      <p:sp>
        <p:nvSpPr>
          <p:cNvPr id="16" name="Step detail 5"/>
          <p:cNvSpPr txBox="1"/>
          <p:nvPr/>
        </p:nvSpPr>
        <p:spPr>
          <a:xfrm>
            <a:off x="3200400" y="5093208"/>
            <a:ext cx="4206240" cy="713232"/>
          </a:xfrm>
          <a:prstGeom prst="rect">
            <a:avLst/>
          </a:prstGeom>
          <a:noFill/>
          <a:ln/>
        </p:spPr>
        <p:txBody>
          <a:bodyPr wrap="square" lIns="0" tIns="0" rIns="0" bIns="0" rtlCol="0" anchor="ctr"/>
          <a:lstStyle/>
          <a:p>
            <a:pPr marL="0" indent="0">
              <a:buNone/>
            </a:pPr>
            <a:r>
              <a:rPr lang="en-US" sz="1500" dirty="0">
                <a:solidFill>
                  <a:schemeClr val="tx1"/>
                </a:solidFill>
              </a:rPr>
              <a:t>Participant-level LOSO cross-validation</a:t>
            </a:r>
            <a:endParaRPr lang="en-US" sz="1500" dirty="0"/>
          </a:p>
        </p:txBody>
      </p:sp>
      <p:sp>
        <p:nvSpPr>
          <p:cNvPr id="17" name="QoL summary card"/>
          <p:cNvSpPr/>
          <p:nvPr/>
        </p:nvSpPr>
        <p:spPr>
          <a:xfrm>
            <a:off x="7863840" y="1508760"/>
            <a:ext cx="3685032" cy="1636776"/>
          </a:xfrm>
          <a:prstGeom prst="roundRect">
            <a:avLst>
              <a:gd name="adj" fmla="val 4103"/>
            </a:avLst>
          </a:prstGeom>
          <a:solidFill>
            <a:schemeClr val="bg2"/>
          </a:solidFill>
          <a:ln w="12700">
            <a:solidFill>
              <a:schemeClr val="bg2"/>
            </a:solidFill>
            <a:prstDash val="solid"/>
          </a:ln>
        </p:spPr>
      </p:sp>
      <p:sp>
        <p:nvSpPr>
          <p:cNvPr id="18" name="Text 16"/>
          <p:cNvSpPr txBox="1"/>
          <p:nvPr/>
        </p:nvSpPr>
        <p:spPr>
          <a:xfrm>
            <a:off x="8092440" y="1645920"/>
            <a:ext cx="1554480" cy="548640"/>
          </a:xfrm>
          <a:prstGeom prst="rect">
            <a:avLst/>
          </a:prstGeom>
          <a:noFill/>
          <a:ln/>
        </p:spPr>
        <p:txBody>
          <a:bodyPr wrap="square" lIns="0" tIns="0" rIns="0" bIns="0" rtlCol="0" anchor="ctr"/>
          <a:lstStyle/>
          <a:p>
            <a:pPr marL="0" indent="0">
              <a:buNone/>
            </a:pPr>
            <a:r>
              <a:rPr lang="en-US" sz="3400" b="1" dirty="0">
                <a:solidFill>
                  <a:schemeClr val="accent1"/>
                </a:solidFill>
              </a:rPr>
              <a:t>124</a:t>
            </a:r>
            <a:endParaRPr lang="en-US" sz="3400" dirty="0"/>
          </a:p>
        </p:txBody>
      </p:sp>
      <p:sp>
        <p:nvSpPr>
          <p:cNvPr id="19" name="Text 17"/>
          <p:cNvSpPr txBox="1"/>
          <p:nvPr/>
        </p:nvSpPr>
        <p:spPr>
          <a:xfrm>
            <a:off x="8092440" y="2194560"/>
            <a:ext cx="1554480" cy="274320"/>
          </a:xfrm>
          <a:prstGeom prst="rect">
            <a:avLst/>
          </a:prstGeom>
          <a:noFill/>
          <a:ln/>
        </p:spPr>
        <p:txBody>
          <a:bodyPr wrap="square" lIns="0" tIns="0" rIns="0" bIns="0" rtlCol="0" anchor="t"/>
          <a:lstStyle/>
          <a:p>
            <a:pPr marL="0" indent="0">
              <a:buNone/>
            </a:pPr>
            <a:r>
              <a:rPr lang="en-US" sz="1400" dirty="0">
                <a:solidFill>
                  <a:schemeClr val="tx2"/>
                </a:solidFill>
              </a:rPr>
              <a:t>sessions</a:t>
            </a:r>
            <a:endParaRPr lang="en-US" sz="1400" dirty="0"/>
          </a:p>
        </p:txBody>
      </p:sp>
      <p:sp>
        <p:nvSpPr>
          <p:cNvPr id="20" name="Text 18"/>
          <p:cNvSpPr txBox="1"/>
          <p:nvPr/>
        </p:nvSpPr>
        <p:spPr>
          <a:xfrm>
            <a:off x="9784080" y="1645920"/>
            <a:ext cx="1554480" cy="548640"/>
          </a:xfrm>
          <a:prstGeom prst="rect">
            <a:avLst/>
          </a:prstGeom>
          <a:noFill/>
          <a:ln/>
        </p:spPr>
        <p:txBody>
          <a:bodyPr wrap="square" lIns="0" tIns="0" rIns="0" bIns="0" rtlCol="0" anchor="ctr"/>
          <a:lstStyle/>
          <a:p>
            <a:pPr marL="0" indent="0">
              <a:buNone/>
            </a:pPr>
            <a:r>
              <a:rPr lang="en-US" sz="3400" b="1" dirty="0">
                <a:solidFill>
                  <a:schemeClr val="accent1"/>
                </a:solidFill>
              </a:rPr>
              <a:t>64</a:t>
            </a:r>
            <a:endParaRPr lang="en-US" sz="3400" dirty="0"/>
          </a:p>
        </p:txBody>
      </p:sp>
      <p:sp>
        <p:nvSpPr>
          <p:cNvPr id="21" name="Text 19"/>
          <p:cNvSpPr txBox="1"/>
          <p:nvPr/>
        </p:nvSpPr>
        <p:spPr>
          <a:xfrm>
            <a:off x="9784080" y="2194560"/>
            <a:ext cx="1554480" cy="274320"/>
          </a:xfrm>
          <a:prstGeom prst="rect">
            <a:avLst/>
          </a:prstGeom>
          <a:noFill/>
          <a:ln/>
        </p:spPr>
        <p:txBody>
          <a:bodyPr wrap="square" lIns="0" tIns="0" rIns="0" bIns="0" rtlCol="0" anchor="t"/>
          <a:lstStyle/>
          <a:p>
            <a:pPr marL="0" indent="0">
              <a:buNone/>
            </a:pPr>
            <a:r>
              <a:rPr lang="en-US" sz="1400" dirty="0">
                <a:solidFill>
                  <a:schemeClr val="tx2"/>
                </a:solidFill>
              </a:rPr>
              <a:t>participants</a:t>
            </a:r>
            <a:endParaRPr lang="en-US" sz="1400" dirty="0"/>
          </a:p>
        </p:txBody>
      </p:sp>
      <p:sp>
        <p:nvSpPr>
          <p:cNvPr id="22" name="Text 20"/>
          <p:cNvSpPr txBox="1"/>
          <p:nvPr/>
        </p:nvSpPr>
        <p:spPr>
          <a:xfrm>
            <a:off x="8092440" y="2697480"/>
            <a:ext cx="3291840" cy="365760"/>
          </a:xfrm>
          <a:prstGeom prst="rect">
            <a:avLst/>
          </a:prstGeom>
          <a:noFill/>
          <a:ln/>
        </p:spPr>
        <p:txBody>
          <a:bodyPr wrap="square" lIns="0" tIns="0" rIns="0" bIns="0" rtlCol="0" anchor="t"/>
          <a:lstStyle/>
          <a:p>
            <a:pPr marL="0" indent="0">
              <a:buNone/>
            </a:pPr>
            <a:r>
              <a:rPr lang="en-US" sz="1400" b="1" dirty="0">
                <a:solidFill>
                  <a:schemeClr val="tx1"/>
                </a:solidFill>
              </a:rPr>
              <a:t>64 relaxation  ·  60 stress sessions</a:t>
            </a:r>
            <a:endParaRPr lang="en-US" sz="1400" dirty="0"/>
          </a:p>
        </p:txBody>
      </p:sp>
      <p:sp>
        <p:nvSpPr>
          <p:cNvPr id="23" name="QoL notes card"/>
          <p:cNvSpPr/>
          <p:nvPr/>
        </p:nvSpPr>
        <p:spPr>
          <a:xfrm>
            <a:off x="7863840" y="3520440"/>
            <a:ext cx="3685032" cy="2011680"/>
          </a:xfrm>
          <a:prstGeom prst="roundRect">
            <a:avLst>
              <a:gd name="adj" fmla="val 3137"/>
            </a:avLst>
          </a:prstGeom>
          <a:solidFill>
            <a:schemeClr val="bg2"/>
          </a:solidFill>
          <a:ln w="12700">
            <a:solidFill>
              <a:schemeClr val="bg2"/>
            </a:solidFill>
            <a:prstDash val="solid"/>
          </a:ln>
        </p:spPr>
      </p:sp>
      <p:sp>
        <p:nvSpPr>
          <p:cNvPr id="24" name="Text 22"/>
          <p:cNvSpPr txBox="1"/>
          <p:nvPr/>
        </p:nvSpPr>
        <p:spPr>
          <a:xfrm>
            <a:off x="8092440" y="3703320"/>
            <a:ext cx="3246120" cy="2011680"/>
          </a:xfrm>
          <a:prstGeom prst="rect">
            <a:avLst/>
          </a:prstGeom>
          <a:noFill/>
          <a:ln/>
        </p:spPr>
        <p:txBody>
          <a:bodyPr wrap="square" lIns="0" tIns="0" rIns="0" bIns="0" rtlCol="0" anchor="t"/>
          <a:lstStyle/>
          <a:p>
            <a:pPr marL="0" indent="0">
              <a:buNone/>
            </a:pPr>
            <a:r>
              <a:rPr lang="en-US" sz="1400" b="1" dirty="0">
                <a:solidFill>
                  <a:schemeClr val="accent1"/>
                </a:solidFill>
              </a:rPr>
              <a:t>Pairing</a:t>
            </a:r>
            <a:endParaRPr lang="en-US" sz="1400" dirty="0"/>
          </a:p>
          <a:p>
            <a:pPr marL="0" indent="0">
              <a:spcAft>
                <a:spcPts val="800"/>
              </a:spcAft>
              <a:buNone/>
            </a:pPr>
            <a:r>
              <a:rPr lang="en-US" sz="1400" dirty="0">
                <a:solidFill>
                  <a:schemeClr val="tx1"/>
                </a:solidFill>
              </a:rPr>
              <a:t>60 participants had paired sessions; 4 had relaxation-only sessions.</a:t>
            </a:r>
            <a:endParaRPr lang="en-US" sz="1400" dirty="0"/>
          </a:p>
          <a:p>
            <a:pPr marL="0" indent="0">
              <a:buNone/>
            </a:pPr>
            <a:r>
              <a:rPr lang="en-US" sz="1400" b="1" dirty="0">
                <a:solidFill>
                  <a:schemeClr val="accent1"/>
                </a:solidFill>
              </a:rPr>
              <a:t>Why it matters</a:t>
            </a:r>
            <a:endParaRPr lang="en-US" sz="1400" dirty="0"/>
          </a:p>
          <a:p>
            <a:pPr marL="0" indent="0">
              <a:buNone/>
            </a:pPr>
            <a:r>
              <a:rPr lang="en-US" sz="1400" dirty="0">
                <a:solidFill>
                  <a:schemeClr val="tx1"/>
                </a:solidFill>
              </a:rPr>
              <a:t>A different protocol tests the approach again. The small sample makes estimates less stable.</a:t>
            </a:r>
            <a:endParaRPr lang="en-US" sz="1400" dirty="0"/>
          </a:p>
        </p:txBody>
      </p:sp>
      <p:sp>
        <p:nvSpPr>
          <p:cNvPr id="25" name="Slide Number Placeholder 0"/>
          <p:cNvSpPr>
            <a:spLocks noGrp="1"/>
          </p:cNvSpPr>
          <p:nvPr>
            <p:ph type="sldNum" sz="quarter" idx="4294967295"/>
          </p:nvPr>
        </p:nvSpPr>
        <p:spPr>
          <a:xfrm>
            <a:off x="10634472" y="642823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908792" cy="822960"/>
          </a:xfrm>
          <a:prstGeom prst="rect">
            <a:avLst/>
          </a:prstGeom>
          <a:noFill/>
          <a:ln/>
        </p:spPr>
        <p:txBody>
          <a:bodyPr wrap="square" lIns="0" tIns="0" rIns="0" bIns="0" rtlCol="0" anchor="ctr"/>
          <a:lstStyle/>
          <a:p>
            <a:pPr marL="0" indent="0">
              <a:buNone/>
            </a:pPr>
            <a:r>
              <a:rPr lang="en-US" sz="3400" b="1" dirty="0">
                <a:solidFill>
                  <a:schemeClr val="tx1"/>
                </a:solidFill>
              </a:rPr>
              <a:t>KDD Applied to Synthetic Data</a:t>
            </a:r>
            <a:endParaRPr lang="en-US" sz="3400" dirty="0"/>
          </a:p>
        </p:txBody>
      </p:sp>
      <p:sp>
        <p:nvSpPr>
          <p:cNvPr id="3" name="Step: 1   Selection"/>
          <p:cNvSpPr txBox="1"/>
          <p:nvPr/>
        </p:nvSpPr>
        <p:spPr>
          <a:xfrm>
            <a:off x="640080" y="1508760"/>
            <a:ext cx="2286000" cy="713232"/>
          </a:xfrm>
          <a:prstGeom prst="roundRect">
            <a:avLst>
              <a:gd name="adj" fmla="val 10256"/>
            </a:avLst>
          </a:prstGeom>
          <a:solidFill>
            <a:schemeClr val="accent1"/>
          </a:solidFill>
          <a:ln>
            <a:solidFill>
              <a:schemeClr val="accent1"/>
            </a:solidFill>
          </a:ln>
        </p:spPr>
        <p:txBody>
          <a:bodyPr wrap="square" lIns="0" tIns="2540" rIns="0" bIns="0" rtlCol="0" anchor="ctr"/>
          <a:lstStyle/>
          <a:p>
            <a:pPr marL="0" indent="0" algn="l">
              <a:buNone/>
            </a:pPr>
            <a:r>
              <a:rPr lang="en-US" sz="1600" b="1" dirty="0">
                <a:solidFill>
                  <a:srgbClr val="FFFFFF"/>
                </a:solidFill>
              </a:rPr>
              <a:t>1   Selection</a:t>
            </a:r>
            <a:endParaRPr lang="en-US" sz="1600" dirty="0"/>
          </a:p>
        </p:txBody>
      </p:sp>
      <p:sp>
        <p:nvSpPr>
          <p:cNvPr id="4" name="Step detail 1"/>
          <p:cNvSpPr txBox="1"/>
          <p:nvPr/>
        </p:nvSpPr>
        <p:spPr>
          <a:xfrm>
            <a:off x="3200400" y="1508760"/>
            <a:ext cx="4206240" cy="713232"/>
          </a:xfrm>
          <a:prstGeom prst="rect">
            <a:avLst/>
          </a:prstGeom>
          <a:noFill/>
          <a:ln/>
        </p:spPr>
        <p:txBody>
          <a:bodyPr wrap="square" lIns="0" tIns="0" rIns="0" bIns="0" rtlCol="0" anchor="ctr"/>
          <a:lstStyle/>
          <a:p>
            <a:pPr marL="0" indent="0">
              <a:buNone/>
            </a:pPr>
            <a:r>
              <a:rPr lang="en-US" sz="1500" dirty="0">
                <a:solidFill>
                  <a:schemeClr val="tx1"/>
                </a:solidFill>
              </a:rPr>
              <a:t>Generated 2,500 simulated observations</a:t>
            </a:r>
            <a:endParaRPr lang="en-US" sz="1500" dirty="0"/>
          </a:p>
        </p:txBody>
      </p:sp>
      <p:sp>
        <p:nvSpPr>
          <p:cNvPr id="5" name="Shape 3"/>
          <p:cNvSpPr/>
          <p:nvPr/>
        </p:nvSpPr>
        <p:spPr>
          <a:xfrm>
            <a:off x="1673352" y="2249424"/>
            <a:ext cx="219456" cy="128016"/>
          </a:xfrm>
          <a:prstGeom prst="downArrow">
            <a:avLst/>
          </a:prstGeom>
          <a:solidFill>
            <a:schemeClr val="accent4"/>
          </a:solidFill>
          <a:ln w="12700">
            <a:solidFill>
              <a:schemeClr val="accent4"/>
            </a:solidFill>
            <a:prstDash val="solid"/>
          </a:ln>
        </p:spPr>
      </p:sp>
      <p:sp>
        <p:nvSpPr>
          <p:cNvPr id="6" name="Step: 2   Preprocessing"/>
          <p:cNvSpPr txBox="1"/>
          <p:nvPr/>
        </p:nvSpPr>
        <p:spPr>
          <a:xfrm>
            <a:off x="640080" y="2404872"/>
            <a:ext cx="2286000" cy="713232"/>
          </a:xfrm>
          <a:prstGeom prst="roundRect">
            <a:avLst>
              <a:gd name="adj" fmla="val 10256"/>
            </a:avLst>
          </a:prstGeom>
          <a:solidFill>
            <a:schemeClr val="accent1"/>
          </a:solidFill>
          <a:ln>
            <a:solidFill>
              <a:schemeClr val="accent1"/>
            </a:solidFill>
          </a:ln>
        </p:spPr>
        <p:txBody>
          <a:bodyPr wrap="square" lIns="0" tIns="2540" rIns="0" bIns="0" rtlCol="0" anchor="ctr"/>
          <a:lstStyle/>
          <a:p>
            <a:pPr marL="0" indent="0" algn="l">
              <a:buNone/>
            </a:pPr>
            <a:r>
              <a:rPr lang="en-US" sz="1600" b="1" dirty="0">
                <a:solidFill>
                  <a:srgbClr val="FFFFFF"/>
                </a:solidFill>
              </a:rPr>
              <a:t>2   Preprocessing</a:t>
            </a:r>
            <a:endParaRPr lang="en-US" sz="1600" dirty="0"/>
          </a:p>
        </p:txBody>
      </p:sp>
      <p:sp>
        <p:nvSpPr>
          <p:cNvPr id="7" name="Step detail 2"/>
          <p:cNvSpPr txBox="1"/>
          <p:nvPr/>
        </p:nvSpPr>
        <p:spPr>
          <a:xfrm>
            <a:off x="3200400" y="2404872"/>
            <a:ext cx="4206240" cy="713232"/>
          </a:xfrm>
          <a:prstGeom prst="rect">
            <a:avLst/>
          </a:prstGeom>
          <a:noFill/>
          <a:ln/>
        </p:spPr>
        <p:txBody>
          <a:bodyPr wrap="square" lIns="0" tIns="0" rIns="0" bIns="0" rtlCol="0" anchor="ctr"/>
          <a:lstStyle/>
          <a:p>
            <a:pPr marL="0" indent="0">
              <a:buNone/>
            </a:pPr>
            <a:r>
              <a:rPr lang="en-US" sz="1500" dirty="0">
                <a:solidFill>
                  <a:schemeClr val="tx1"/>
                </a:solidFill>
              </a:rPr>
              <a:t>Prepared the generated features and target labels</a:t>
            </a:r>
            <a:endParaRPr lang="en-US" sz="1500" dirty="0"/>
          </a:p>
        </p:txBody>
      </p:sp>
      <p:sp>
        <p:nvSpPr>
          <p:cNvPr id="8" name="Shape 6"/>
          <p:cNvSpPr/>
          <p:nvPr/>
        </p:nvSpPr>
        <p:spPr>
          <a:xfrm>
            <a:off x="1673352" y="3145536"/>
            <a:ext cx="219456" cy="128016"/>
          </a:xfrm>
          <a:prstGeom prst="downArrow">
            <a:avLst/>
          </a:prstGeom>
          <a:solidFill>
            <a:schemeClr val="accent4"/>
          </a:solidFill>
          <a:ln w="12700">
            <a:solidFill>
              <a:schemeClr val="accent4"/>
            </a:solidFill>
            <a:prstDash val="solid"/>
          </a:ln>
        </p:spPr>
      </p:sp>
      <p:sp>
        <p:nvSpPr>
          <p:cNvPr id="9" name="Step: 3   Feature set"/>
          <p:cNvSpPr txBox="1"/>
          <p:nvPr/>
        </p:nvSpPr>
        <p:spPr>
          <a:xfrm>
            <a:off x="640080" y="3300984"/>
            <a:ext cx="2286000" cy="713232"/>
          </a:xfrm>
          <a:prstGeom prst="roundRect">
            <a:avLst>
              <a:gd name="adj" fmla="val 10256"/>
            </a:avLst>
          </a:prstGeom>
          <a:solidFill>
            <a:schemeClr val="accent1"/>
          </a:solidFill>
          <a:ln>
            <a:solidFill>
              <a:schemeClr val="accent1"/>
            </a:solidFill>
          </a:ln>
        </p:spPr>
        <p:txBody>
          <a:bodyPr wrap="square" lIns="0" tIns="2540" rIns="0" bIns="0" rtlCol="0" anchor="ctr"/>
          <a:lstStyle/>
          <a:p>
            <a:pPr marL="0" indent="0" algn="l">
              <a:buNone/>
            </a:pPr>
            <a:r>
              <a:rPr lang="en-US" sz="1600" b="1" dirty="0">
                <a:solidFill>
                  <a:srgbClr val="FFFFFF"/>
                </a:solidFill>
              </a:rPr>
              <a:t>3   Feature set</a:t>
            </a:r>
            <a:endParaRPr lang="en-US" sz="1600" dirty="0"/>
          </a:p>
        </p:txBody>
      </p:sp>
      <p:sp>
        <p:nvSpPr>
          <p:cNvPr id="10" name="Step detail 3"/>
          <p:cNvSpPr txBox="1"/>
          <p:nvPr/>
        </p:nvSpPr>
        <p:spPr>
          <a:xfrm>
            <a:off x="3200400" y="3300984"/>
            <a:ext cx="4206240" cy="713232"/>
          </a:xfrm>
          <a:prstGeom prst="rect">
            <a:avLst/>
          </a:prstGeom>
          <a:noFill/>
          <a:ln/>
        </p:spPr>
        <p:txBody>
          <a:bodyPr wrap="square" lIns="0" tIns="0" rIns="0" bIns="0" rtlCol="0" anchor="ctr"/>
          <a:lstStyle/>
          <a:p>
            <a:pPr marL="0" indent="0">
              <a:buNone/>
            </a:pPr>
            <a:r>
              <a:rPr lang="en-US" sz="1500" dirty="0"/>
              <a:t>10</a:t>
            </a:r>
            <a:r>
              <a:rPr lang="en-US" sz="1500" dirty="0">
                <a:solidFill>
                  <a:schemeClr val="tx1"/>
                </a:solidFill>
              </a:rPr>
              <a:t> features and 50 synthetic subjects</a:t>
            </a:r>
            <a:endParaRPr lang="en-US" sz="1500" dirty="0"/>
          </a:p>
        </p:txBody>
      </p:sp>
      <p:sp>
        <p:nvSpPr>
          <p:cNvPr id="11" name="Shape 9"/>
          <p:cNvSpPr/>
          <p:nvPr/>
        </p:nvSpPr>
        <p:spPr>
          <a:xfrm>
            <a:off x="1673352" y="4041648"/>
            <a:ext cx="219456" cy="128016"/>
          </a:xfrm>
          <a:prstGeom prst="downArrow">
            <a:avLst/>
          </a:prstGeom>
          <a:solidFill>
            <a:schemeClr val="accent4"/>
          </a:solidFill>
          <a:ln w="12700">
            <a:solidFill>
              <a:schemeClr val="accent4"/>
            </a:solidFill>
            <a:prstDash val="solid"/>
          </a:ln>
        </p:spPr>
      </p:sp>
      <p:sp>
        <p:nvSpPr>
          <p:cNvPr id="12" name="Step: 4   Modeling"/>
          <p:cNvSpPr txBox="1"/>
          <p:nvPr/>
        </p:nvSpPr>
        <p:spPr>
          <a:xfrm>
            <a:off x="640080" y="4197096"/>
            <a:ext cx="2286000" cy="713232"/>
          </a:xfrm>
          <a:prstGeom prst="roundRect">
            <a:avLst>
              <a:gd name="adj" fmla="val 10256"/>
            </a:avLst>
          </a:prstGeom>
          <a:solidFill>
            <a:schemeClr val="accent1"/>
          </a:solidFill>
          <a:ln>
            <a:solidFill>
              <a:schemeClr val="accent1"/>
            </a:solidFill>
          </a:ln>
        </p:spPr>
        <p:txBody>
          <a:bodyPr wrap="square" lIns="0" tIns="2540" rIns="0" bIns="0" rtlCol="0" anchor="ctr"/>
          <a:lstStyle/>
          <a:p>
            <a:pPr marL="0" indent="0" algn="l">
              <a:buNone/>
            </a:pPr>
            <a:r>
              <a:rPr lang="en-US" sz="1600" b="1" dirty="0">
                <a:solidFill>
                  <a:srgbClr val="FFFFFF"/>
                </a:solidFill>
              </a:rPr>
              <a:t>4   Modeling</a:t>
            </a:r>
            <a:endParaRPr lang="en-US" sz="1600" dirty="0"/>
          </a:p>
        </p:txBody>
      </p:sp>
      <p:sp>
        <p:nvSpPr>
          <p:cNvPr id="13" name="Step detail 4"/>
          <p:cNvSpPr txBox="1"/>
          <p:nvPr/>
        </p:nvSpPr>
        <p:spPr>
          <a:xfrm>
            <a:off x="3200400" y="4197096"/>
            <a:ext cx="4206240" cy="713232"/>
          </a:xfrm>
          <a:prstGeom prst="rect">
            <a:avLst/>
          </a:prstGeom>
          <a:noFill/>
          <a:ln/>
        </p:spPr>
        <p:txBody>
          <a:bodyPr wrap="square" lIns="0" tIns="0" rIns="0" bIns="0" rtlCol="0" anchor="ctr"/>
          <a:lstStyle/>
          <a:p>
            <a:pPr marL="0" indent="0">
              <a:buNone/>
            </a:pPr>
            <a:r>
              <a:rPr lang="en-US" sz="1500" dirty="0">
                <a:solidFill>
                  <a:schemeClr val="tx1"/>
                </a:solidFill>
              </a:rPr>
              <a:t>Logistic Regression, Random Forest, HistGradientBoosting</a:t>
            </a:r>
            <a:endParaRPr lang="en-US" sz="1500" dirty="0"/>
          </a:p>
        </p:txBody>
      </p:sp>
      <p:sp>
        <p:nvSpPr>
          <p:cNvPr id="14" name="Shape 12"/>
          <p:cNvSpPr/>
          <p:nvPr/>
        </p:nvSpPr>
        <p:spPr>
          <a:xfrm>
            <a:off x="1673352" y="4937760"/>
            <a:ext cx="219456" cy="128016"/>
          </a:xfrm>
          <a:prstGeom prst="downArrow">
            <a:avLst/>
          </a:prstGeom>
          <a:solidFill>
            <a:schemeClr val="accent4"/>
          </a:solidFill>
          <a:ln w="12700">
            <a:solidFill>
              <a:schemeClr val="accent4"/>
            </a:solidFill>
            <a:prstDash val="solid"/>
          </a:ln>
        </p:spPr>
      </p:sp>
      <p:sp>
        <p:nvSpPr>
          <p:cNvPr id="15" name="Step: 5   Evaluation"/>
          <p:cNvSpPr txBox="1"/>
          <p:nvPr/>
        </p:nvSpPr>
        <p:spPr>
          <a:xfrm>
            <a:off x="640080" y="5093208"/>
            <a:ext cx="2286000" cy="713232"/>
          </a:xfrm>
          <a:prstGeom prst="roundRect">
            <a:avLst>
              <a:gd name="adj" fmla="val 10256"/>
            </a:avLst>
          </a:prstGeom>
          <a:solidFill>
            <a:schemeClr val="accent1"/>
          </a:solidFill>
          <a:ln>
            <a:solidFill>
              <a:schemeClr val="accent1"/>
            </a:solidFill>
          </a:ln>
        </p:spPr>
        <p:txBody>
          <a:bodyPr wrap="square" lIns="0" tIns="2540" rIns="0" bIns="0" rtlCol="0" anchor="ctr"/>
          <a:lstStyle/>
          <a:p>
            <a:pPr marL="0" indent="0" algn="l">
              <a:buNone/>
            </a:pPr>
            <a:r>
              <a:rPr lang="en-US" sz="1600" b="1" dirty="0">
                <a:solidFill>
                  <a:srgbClr val="FFFFFF"/>
                </a:solidFill>
              </a:rPr>
              <a:t>5   Evaluation</a:t>
            </a:r>
            <a:endParaRPr lang="en-US" sz="1600" dirty="0"/>
          </a:p>
        </p:txBody>
      </p:sp>
      <p:sp>
        <p:nvSpPr>
          <p:cNvPr id="16" name="Step detail 5"/>
          <p:cNvSpPr txBox="1"/>
          <p:nvPr/>
        </p:nvSpPr>
        <p:spPr>
          <a:xfrm>
            <a:off x="3200400" y="5093208"/>
            <a:ext cx="4206240" cy="713232"/>
          </a:xfrm>
          <a:prstGeom prst="rect">
            <a:avLst/>
          </a:prstGeom>
          <a:noFill/>
          <a:ln/>
        </p:spPr>
        <p:txBody>
          <a:bodyPr wrap="square" lIns="0" tIns="0" rIns="0" bIns="0" rtlCol="0" anchor="ctr"/>
          <a:lstStyle/>
          <a:p>
            <a:pPr marL="0" indent="0">
              <a:buNone/>
            </a:pPr>
            <a:r>
              <a:rPr lang="en-US" sz="1500" dirty="0">
                <a:solidFill>
                  <a:schemeClr val="tx1"/>
                </a:solidFill>
              </a:rPr>
              <a:t>LOSO across synthetic subjects; 1,250 observations per class</a:t>
            </a:r>
            <a:endParaRPr lang="en-US" sz="1500" dirty="0"/>
          </a:p>
        </p:txBody>
      </p:sp>
      <p:sp>
        <p:nvSpPr>
          <p:cNvPr id="17" name="Synthetic summary card"/>
          <p:cNvSpPr/>
          <p:nvPr/>
        </p:nvSpPr>
        <p:spPr>
          <a:xfrm>
            <a:off x="7863840" y="1508760"/>
            <a:ext cx="3685032" cy="1417320"/>
          </a:xfrm>
          <a:prstGeom prst="roundRect">
            <a:avLst>
              <a:gd name="adj" fmla="val 5161"/>
            </a:avLst>
          </a:prstGeom>
          <a:solidFill>
            <a:schemeClr val="bg2"/>
          </a:solidFill>
          <a:ln w="12700">
            <a:solidFill>
              <a:schemeClr val="bg2"/>
            </a:solidFill>
            <a:prstDash val="solid"/>
          </a:ln>
        </p:spPr>
      </p:sp>
      <p:sp>
        <p:nvSpPr>
          <p:cNvPr id="18" name="Text 16"/>
          <p:cNvSpPr txBox="1"/>
          <p:nvPr/>
        </p:nvSpPr>
        <p:spPr>
          <a:xfrm>
            <a:off x="8092440" y="1664208"/>
            <a:ext cx="3246120" cy="1143000"/>
          </a:xfrm>
          <a:prstGeom prst="rect">
            <a:avLst/>
          </a:prstGeom>
          <a:noFill/>
          <a:ln/>
        </p:spPr>
        <p:txBody>
          <a:bodyPr wrap="square" lIns="0" tIns="0" rIns="0" bIns="0" rtlCol="0" anchor="t"/>
          <a:lstStyle/>
          <a:p>
            <a:pPr marL="0" indent="0">
              <a:buNone/>
            </a:pPr>
            <a:r>
              <a:rPr lang="en-US" sz="1400" b="1" dirty="0">
                <a:solidFill>
                  <a:schemeClr val="accent1"/>
                </a:solidFill>
              </a:rPr>
              <a:t>Purpose</a:t>
            </a:r>
            <a:endParaRPr lang="en-US" sz="1400" dirty="0"/>
          </a:p>
          <a:p>
            <a:pPr marL="0" indent="0">
              <a:buNone/>
            </a:pPr>
            <a:r>
              <a:rPr lang="en-US" sz="1400" dirty="0">
                <a:solidFill>
                  <a:schemeClr val="tx1"/>
                </a:solidFill>
              </a:rPr>
              <a:t>To test model behaviour on controlled simulated data.</a:t>
            </a:r>
            <a:endParaRPr lang="en-US" sz="1400" dirty="0"/>
          </a:p>
        </p:txBody>
      </p:sp>
      <p:sp>
        <p:nvSpPr>
          <p:cNvPr id="19" name="Synthetic limitation card"/>
          <p:cNvSpPr/>
          <p:nvPr/>
        </p:nvSpPr>
        <p:spPr>
          <a:xfrm>
            <a:off x="7863840" y="3108960"/>
            <a:ext cx="3685032" cy="1325880"/>
          </a:xfrm>
          <a:prstGeom prst="roundRect">
            <a:avLst>
              <a:gd name="adj" fmla="val 5517"/>
            </a:avLst>
          </a:prstGeom>
          <a:solidFill>
            <a:schemeClr val="bg2"/>
          </a:solidFill>
          <a:ln w="12700">
            <a:solidFill>
              <a:schemeClr val="bg2"/>
            </a:solidFill>
            <a:prstDash val="solid"/>
          </a:ln>
        </p:spPr>
      </p:sp>
      <p:sp>
        <p:nvSpPr>
          <p:cNvPr id="20" name="Text 18"/>
          <p:cNvSpPr txBox="1"/>
          <p:nvPr/>
        </p:nvSpPr>
        <p:spPr>
          <a:xfrm>
            <a:off x="8092440" y="3246120"/>
            <a:ext cx="3246120" cy="1097280"/>
          </a:xfrm>
          <a:prstGeom prst="rect">
            <a:avLst/>
          </a:prstGeom>
          <a:noFill/>
          <a:ln/>
        </p:spPr>
        <p:txBody>
          <a:bodyPr wrap="square" lIns="0" tIns="0" rIns="0" bIns="0" rtlCol="0" anchor="t"/>
          <a:lstStyle/>
          <a:p>
            <a:pPr marL="0" indent="0">
              <a:buNone/>
            </a:pPr>
            <a:r>
              <a:rPr lang="en-US" sz="1400" b="1" dirty="0">
                <a:solidFill>
                  <a:schemeClr val="accent1"/>
                </a:solidFill>
              </a:rPr>
              <a:t>Limitation</a:t>
            </a:r>
            <a:endParaRPr lang="en-US" sz="1400" dirty="0"/>
          </a:p>
          <a:p>
            <a:pPr marL="0" indent="0">
              <a:buNone/>
            </a:pPr>
            <a:r>
              <a:rPr lang="en-US" sz="1400" dirty="0">
                <a:solidFill>
                  <a:schemeClr val="tx1"/>
                </a:solidFill>
              </a:rPr>
              <a:t>Synthetic patterns may not represent real human physiology. Report separately from real data.</a:t>
            </a:r>
            <a:endParaRPr lang="en-US" sz="1400" dirty="0"/>
          </a:p>
        </p:txBody>
      </p:sp>
      <p:sp>
        <p:nvSpPr>
          <p:cNvPr id="25" name="Slide Number Placeholder 0"/>
          <p:cNvSpPr>
            <a:spLocks noGrp="1"/>
          </p:cNvSpPr>
          <p:nvPr>
            <p:ph type="sldNum" sz="quarter" idx="4294967295"/>
          </p:nvPr>
        </p:nvSpPr>
        <p:spPr>
          <a:xfrm>
            <a:off x="10634472" y="642823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908792" cy="822960"/>
          </a:xfrm>
          <a:prstGeom prst="rect">
            <a:avLst/>
          </a:prstGeom>
          <a:noFill/>
          <a:ln/>
        </p:spPr>
        <p:txBody>
          <a:bodyPr wrap="square" lIns="0" tIns="0" rIns="0" bIns="0" rtlCol="0" anchor="ctr"/>
          <a:lstStyle/>
          <a:p>
            <a:pPr marL="0" indent="0">
              <a:buNone/>
            </a:pPr>
            <a:r>
              <a:rPr lang="en-US" sz="3400" b="1" dirty="0">
                <a:solidFill>
                  <a:schemeClr val="tx1"/>
                </a:solidFill>
              </a:rPr>
              <a:t>Methodology and Experimental Design</a:t>
            </a:r>
            <a:endParaRPr lang="en-US" sz="3400" dirty="0"/>
          </a:p>
        </p:txBody>
      </p:sp>
      <p:sp>
        <p:nvSpPr>
          <p:cNvPr id="3" name="Text 1"/>
          <p:cNvSpPr txBox="1"/>
          <p:nvPr/>
        </p:nvSpPr>
        <p:spPr>
          <a:xfrm>
            <a:off x="640080" y="1463040"/>
            <a:ext cx="3108960" cy="320040"/>
          </a:xfrm>
          <a:prstGeom prst="rect">
            <a:avLst/>
          </a:prstGeom>
          <a:noFill/>
          <a:ln/>
        </p:spPr>
        <p:txBody>
          <a:bodyPr wrap="square" lIns="0" tIns="0" rIns="0" bIns="0" rtlCol="0" anchor="t"/>
          <a:lstStyle/>
          <a:p>
            <a:pPr marL="0" indent="0">
              <a:buNone/>
            </a:pPr>
            <a:r>
              <a:rPr lang="en-US" sz="1800" b="1" dirty="0">
                <a:solidFill>
                  <a:schemeClr val="accent1"/>
                </a:solidFill>
              </a:rPr>
              <a:t>Models evaluated</a:t>
            </a:r>
            <a:endParaRPr lang="en-US" sz="1800" dirty="0"/>
          </a:p>
        </p:txBody>
      </p:sp>
      <p:sp>
        <p:nvSpPr>
          <p:cNvPr id="4" name="Model card Logistic Regression"/>
          <p:cNvSpPr/>
          <p:nvPr/>
        </p:nvSpPr>
        <p:spPr>
          <a:xfrm>
            <a:off x="640080" y="1920240"/>
            <a:ext cx="3108960" cy="731520"/>
          </a:xfrm>
          <a:prstGeom prst="roundRect">
            <a:avLst>
              <a:gd name="adj" fmla="val 10000"/>
            </a:avLst>
          </a:prstGeom>
          <a:solidFill>
            <a:schemeClr val="bg2"/>
          </a:solidFill>
          <a:ln w="12700">
            <a:solidFill>
              <a:schemeClr val="bg2"/>
            </a:solidFill>
            <a:prstDash val="solid"/>
          </a:ln>
        </p:spPr>
      </p:sp>
      <p:sp>
        <p:nvSpPr>
          <p:cNvPr id="5" name="Text 3"/>
          <p:cNvSpPr txBox="1"/>
          <p:nvPr/>
        </p:nvSpPr>
        <p:spPr>
          <a:xfrm>
            <a:off x="868680" y="1920240"/>
            <a:ext cx="2743200" cy="731520"/>
          </a:xfrm>
          <a:prstGeom prst="rect">
            <a:avLst/>
          </a:prstGeom>
          <a:noFill/>
          <a:ln/>
        </p:spPr>
        <p:txBody>
          <a:bodyPr wrap="square" lIns="0" tIns="0" rIns="0" bIns="0" rtlCol="0" anchor="ctr"/>
          <a:lstStyle/>
          <a:p>
            <a:pPr marL="0" indent="0">
              <a:buNone/>
            </a:pPr>
            <a:r>
              <a:rPr lang="en-US" sz="1600" b="1" dirty="0">
                <a:solidFill>
                  <a:schemeClr val="tx1"/>
                </a:solidFill>
              </a:rPr>
              <a:t>Logistic Regression</a:t>
            </a:r>
            <a:endParaRPr lang="en-US" sz="1600" dirty="0"/>
          </a:p>
        </p:txBody>
      </p:sp>
      <p:sp>
        <p:nvSpPr>
          <p:cNvPr id="6" name="Model card Random Forest"/>
          <p:cNvSpPr/>
          <p:nvPr/>
        </p:nvSpPr>
        <p:spPr>
          <a:xfrm>
            <a:off x="640080" y="2788920"/>
            <a:ext cx="3108960" cy="731520"/>
          </a:xfrm>
          <a:prstGeom prst="roundRect">
            <a:avLst>
              <a:gd name="adj" fmla="val 10000"/>
            </a:avLst>
          </a:prstGeom>
          <a:solidFill>
            <a:schemeClr val="bg2"/>
          </a:solidFill>
          <a:ln w="12700">
            <a:solidFill>
              <a:schemeClr val="bg2"/>
            </a:solidFill>
            <a:prstDash val="solid"/>
          </a:ln>
        </p:spPr>
      </p:sp>
      <p:sp>
        <p:nvSpPr>
          <p:cNvPr id="7" name="Text 5"/>
          <p:cNvSpPr txBox="1"/>
          <p:nvPr/>
        </p:nvSpPr>
        <p:spPr>
          <a:xfrm>
            <a:off x="868680" y="2788920"/>
            <a:ext cx="2743200" cy="731520"/>
          </a:xfrm>
          <a:prstGeom prst="rect">
            <a:avLst/>
          </a:prstGeom>
          <a:noFill/>
          <a:ln/>
        </p:spPr>
        <p:txBody>
          <a:bodyPr wrap="square" lIns="0" tIns="0" rIns="0" bIns="0" rtlCol="0" anchor="ctr"/>
          <a:lstStyle/>
          <a:p>
            <a:pPr marL="0" indent="0">
              <a:buNone/>
            </a:pPr>
            <a:r>
              <a:rPr lang="en-US" sz="1600" b="1" dirty="0">
                <a:solidFill>
                  <a:schemeClr val="tx1"/>
                </a:solidFill>
              </a:rPr>
              <a:t>Random Forest</a:t>
            </a:r>
            <a:endParaRPr lang="en-US" sz="1600" dirty="0"/>
          </a:p>
        </p:txBody>
      </p:sp>
      <p:sp>
        <p:nvSpPr>
          <p:cNvPr id="8" name="Model card HistGradientBoosting"/>
          <p:cNvSpPr/>
          <p:nvPr/>
        </p:nvSpPr>
        <p:spPr>
          <a:xfrm>
            <a:off x="640080" y="3657600"/>
            <a:ext cx="3108960" cy="731520"/>
          </a:xfrm>
          <a:prstGeom prst="roundRect">
            <a:avLst>
              <a:gd name="adj" fmla="val 10000"/>
            </a:avLst>
          </a:prstGeom>
          <a:solidFill>
            <a:schemeClr val="bg2"/>
          </a:solidFill>
          <a:ln w="12700">
            <a:solidFill>
              <a:schemeClr val="bg2"/>
            </a:solidFill>
            <a:prstDash val="solid"/>
          </a:ln>
        </p:spPr>
      </p:sp>
      <p:sp>
        <p:nvSpPr>
          <p:cNvPr id="9" name="Text 7"/>
          <p:cNvSpPr txBox="1"/>
          <p:nvPr/>
        </p:nvSpPr>
        <p:spPr>
          <a:xfrm>
            <a:off x="868680" y="3657600"/>
            <a:ext cx="2743200" cy="731520"/>
          </a:xfrm>
          <a:prstGeom prst="rect">
            <a:avLst/>
          </a:prstGeom>
          <a:noFill/>
          <a:ln/>
        </p:spPr>
        <p:txBody>
          <a:bodyPr wrap="square" lIns="0" tIns="0" rIns="0" bIns="0" rtlCol="0" anchor="ctr"/>
          <a:lstStyle/>
          <a:p>
            <a:pPr marL="0" indent="0">
              <a:buNone/>
            </a:pPr>
            <a:r>
              <a:rPr lang="en-US" sz="1600" b="1" dirty="0">
                <a:solidFill>
                  <a:schemeClr val="tx1"/>
                </a:solidFill>
              </a:rPr>
              <a:t>HistGradientBoosting</a:t>
            </a:r>
            <a:endParaRPr lang="en-US" sz="1600" dirty="0"/>
          </a:p>
        </p:txBody>
      </p:sp>
      <p:sp>
        <p:nvSpPr>
          <p:cNvPr id="10" name="Text 8"/>
          <p:cNvSpPr txBox="1"/>
          <p:nvPr/>
        </p:nvSpPr>
        <p:spPr>
          <a:xfrm>
            <a:off x="4206240" y="1463040"/>
            <a:ext cx="4023360" cy="320040"/>
          </a:xfrm>
          <a:prstGeom prst="rect">
            <a:avLst/>
          </a:prstGeom>
          <a:noFill/>
          <a:ln/>
        </p:spPr>
        <p:txBody>
          <a:bodyPr wrap="square" lIns="0" tIns="0" rIns="0" bIns="0" rtlCol="0" anchor="t"/>
          <a:lstStyle/>
          <a:p>
            <a:pPr marL="0" indent="0">
              <a:buNone/>
            </a:pPr>
            <a:r>
              <a:rPr lang="en-US" sz="1800" b="1" dirty="0">
                <a:solidFill>
                  <a:schemeClr val="accent1"/>
                </a:solidFill>
              </a:rPr>
              <a:t>Validation strategy: LOSO</a:t>
            </a:r>
            <a:endParaRPr lang="en-US" sz="1800" dirty="0"/>
          </a:p>
        </p:txBody>
      </p:sp>
      <p:sp>
        <p:nvSpPr>
          <p:cNvPr id="11" name="Text 9"/>
          <p:cNvSpPr txBox="1"/>
          <p:nvPr/>
        </p:nvSpPr>
        <p:spPr>
          <a:xfrm>
            <a:off x="4206240" y="1965960"/>
            <a:ext cx="777240" cy="384048"/>
          </a:xfrm>
          <a:prstGeom prst="rect">
            <a:avLst/>
          </a:prstGeom>
          <a:noFill/>
          <a:ln/>
        </p:spPr>
        <p:txBody>
          <a:bodyPr wrap="square" lIns="0" tIns="0" rIns="0" bIns="0" rtlCol="0" anchor="ctr"/>
          <a:lstStyle/>
          <a:p>
            <a:pPr marL="0" indent="0">
              <a:buNone/>
            </a:pPr>
            <a:r>
              <a:rPr lang="en-US" sz="1400" dirty="0">
                <a:solidFill>
                  <a:schemeClr val="tx2"/>
                </a:solidFill>
              </a:rPr>
              <a:t>Fold 1</a:t>
            </a:r>
            <a:endParaRPr lang="en-US" sz="1400" dirty="0"/>
          </a:p>
        </p:txBody>
      </p:sp>
      <p:sp>
        <p:nvSpPr>
          <p:cNvPr id="12" name="Fold square"/>
          <p:cNvSpPr/>
          <p:nvPr/>
        </p:nvSpPr>
        <p:spPr>
          <a:xfrm>
            <a:off x="5029200" y="1965960"/>
            <a:ext cx="384048" cy="384048"/>
          </a:xfrm>
          <a:prstGeom prst="roundRect">
            <a:avLst>
              <a:gd name="adj" fmla="val 11905"/>
            </a:avLst>
          </a:prstGeom>
          <a:solidFill>
            <a:schemeClr val="accent1"/>
          </a:solidFill>
          <a:ln w="9525">
            <a:solidFill>
              <a:schemeClr val="accent1"/>
            </a:solidFill>
            <a:prstDash val="solid"/>
          </a:ln>
        </p:spPr>
      </p:sp>
      <p:sp>
        <p:nvSpPr>
          <p:cNvPr id="13" name="Fold square"/>
          <p:cNvSpPr/>
          <p:nvPr/>
        </p:nvSpPr>
        <p:spPr>
          <a:xfrm>
            <a:off x="5486400" y="1965960"/>
            <a:ext cx="384048" cy="384048"/>
          </a:xfrm>
          <a:prstGeom prst="roundRect">
            <a:avLst>
              <a:gd name="adj" fmla="val 11905"/>
            </a:avLst>
          </a:prstGeom>
          <a:solidFill>
            <a:schemeClr val="bg2"/>
          </a:solidFill>
          <a:ln w="9525">
            <a:solidFill>
              <a:schemeClr val="accent4"/>
            </a:solidFill>
            <a:prstDash val="solid"/>
          </a:ln>
        </p:spPr>
      </p:sp>
      <p:sp>
        <p:nvSpPr>
          <p:cNvPr id="14" name="Fold square"/>
          <p:cNvSpPr/>
          <p:nvPr/>
        </p:nvSpPr>
        <p:spPr>
          <a:xfrm>
            <a:off x="5943600" y="1965960"/>
            <a:ext cx="384048" cy="384048"/>
          </a:xfrm>
          <a:prstGeom prst="roundRect">
            <a:avLst>
              <a:gd name="adj" fmla="val 11905"/>
            </a:avLst>
          </a:prstGeom>
          <a:solidFill>
            <a:schemeClr val="bg2"/>
          </a:solidFill>
          <a:ln w="9525">
            <a:solidFill>
              <a:schemeClr val="accent4"/>
            </a:solidFill>
            <a:prstDash val="solid"/>
          </a:ln>
        </p:spPr>
      </p:sp>
      <p:sp>
        <p:nvSpPr>
          <p:cNvPr id="15" name="Fold square"/>
          <p:cNvSpPr/>
          <p:nvPr/>
        </p:nvSpPr>
        <p:spPr>
          <a:xfrm>
            <a:off x="6400800" y="1965960"/>
            <a:ext cx="384048" cy="384048"/>
          </a:xfrm>
          <a:prstGeom prst="roundRect">
            <a:avLst>
              <a:gd name="adj" fmla="val 11905"/>
            </a:avLst>
          </a:prstGeom>
          <a:solidFill>
            <a:schemeClr val="bg2"/>
          </a:solidFill>
          <a:ln w="9525">
            <a:solidFill>
              <a:schemeClr val="accent4"/>
            </a:solidFill>
            <a:prstDash val="solid"/>
          </a:ln>
        </p:spPr>
      </p:sp>
      <p:sp>
        <p:nvSpPr>
          <p:cNvPr id="16" name="Fold square"/>
          <p:cNvSpPr/>
          <p:nvPr/>
        </p:nvSpPr>
        <p:spPr>
          <a:xfrm>
            <a:off x="6858000" y="1965960"/>
            <a:ext cx="384048" cy="384048"/>
          </a:xfrm>
          <a:prstGeom prst="roundRect">
            <a:avLst>
              <a:gd name="adj" fmla="val 11905"/>
            </a:avLst>
          </a:prstGeom>
          <a:solidFill>
            <a:schemeClr val="bg2"/>
          </a:solidFill>
          <a:ln w="9525">
            <a:solidFill>
              <a:schemeClr val="accent4"/>
            </a:solidFill>
            <a:prstDash val="solid"/>
          </a:ln>
        </p:spPr>
      </p:sp>
      <p:sp>
        <p:nvSpPr>
          <p:cNvPr id="17" name="Fold square"/>
          <p:cNvSpPr/>
          <p:nvPr/>
        </p:nvSpPr>
        <p:spPr>
          <a:xfrm>
            <a:off x="7315200" y="1965960"/>
            <a:ext cx="384048" cy="384048"/>
          </a:xfrm>
          <a:prstGeom prst="roundRect">
            <a:avLst>
              <a:gd name="adj" fmla="val 11905"/>
            </a:avLst>
          </a:prstGeom>
          <a:solidFill>
            <a:schemeClr val="bg2"/>
          </a:solidFill>
          <a:ln w="9525">
            <a:solidFill>
              <a:schemeClr val="accent4"/>
            </a:solidFill>
            <a:prstDash val="solid"/>
          </a:ln>
        </p:spPr>
      </p:sp>
      <p:sp>
        <p:nvSpPr>
          <p:cNvPr id="18" name="Fold square"/>
          <p:cNvSpPr/>
          <p:nvPr/>
        </p:nvSpPr>
        <p:spPr>
          <a:xfrm>
            <a:off x="7772400" y="1965960"/>
            <a:ext cx="384048" cy="384048"/>
          </a:xfrm>
          <a:prstGeom prst="roundRect">
            <a:avLst>
              <a:gd name="adj" fmla="val 11905"/>
            </a:avLst>
          </a:prstGeom>
          <a:solidFill>
            <a:schemeClr val="bg2"/>
          </a:solidFill>
          <a:ln w="9525">
            <a:solidFill>
              <a:schemeClr val="accent4"/>
            </a:solidFill>
            <a:prstDash val="solid"/>
          </a:ln>
        </p:spPr>
      </p:sp>
      <p:sp>
        <p:nvSpPr>
          <p:cNvPr id="19" name="Text 17"/>
          <p:cNvSpPr txBox="1"/>
          <p:nvPr/>
        </p:nvSpPr>
        <p:spPr>
          <a:xfrm>
            <a:off x="4206240" y="2532888"/>
            <a:ext cx="777240" cy="384048"/>
          </a:xfrm>
          <a:prstGeom prst="rect">
            <a:avLst/>
          </a:prstGeom>
          <a:noFill/>
          <a:ln/>
        </p:spPr>
        <p:txBody>
          <a:bodyPr wrap="square" lIns="0" tIns="0" rIns="0" bIns="0" rtlCol="0" anchor="ctr"/>
          <a:lstStyle/>
          <a:p>
            <a:pPr marL="0" indent="0">
              <a:buNone/>
            </a:pPr>
            <a:r>
              <a:rPr lang="en-US" sz="1400" dirty="0">
                <a:solidFill>
                  <a:schemeClr val="tx2"/>
                </a:solidFill>
              </a:rPr>
              <a:t>Fold 2</a:t>
            </a:r>
            <a:endParaRPr lang="en-US" sz="1400" dirty="0"/>
          </a:p>
        </p:txBody>
      </p:sp>
      <p:sp>
        <p:nvSpPr>
          <p:cNvPr id="20" name="Fold square"/>
          <p:cNvSpPr/>
          <p:nvPr/>
        </p:nvSpPr>
        <p:spPr>
          <a:xfrm>
            <a:off x="5029200" y="2532888"/>
            <a:ext cx="384048" cy="384048"/>
          </a:xfrm>
          <a:prstGeom prst="roundRect">
            <a:avLst>
              <a:gd name="adj" fmla="val 11905"/>
            </a:avLst>
          </a:prstGeom>
          <a:solidFill>
            <a:schemeClr val="bg2"/>
          </a:solidFill>
          <a:ln w="9525">
            <a:solidFill>
              <a:schemeClr val="accent4"/>
            </a:solidFill>
            <a:prstDash val="solid"/>
          </a:ln>
        </p:spPr>
      </p:sp>
      <p:sp>
        <p:nvSpPr>
          <p:cNvPr id="21" name="Fold square"/>
          <p:cNvSpPr/>
          <p:nvPr/>
        </p:nvSpPr>
        <p:spPr>
          <a:xfrm>
            <a:off x="5486400" y="2532888"/>
            <a:ext cx="384048" cy="384048"/>
          </a:xfrm>
          <a:prstGeom prst="roundRect">
            <a:avLst>
              <a:gd name="adj" fmla="val 11905"/>
            </a:avLst>
          </a:prstGeom>
          <a:solidFill>
            <a:schemeClr val="bg2"/>
          </a:solidFill>
          <a:ln w="9525">
            <a:solidFill>
              <a:schemeClr val="accent4"/>
            </a:solidFill>
            <a:prstDash val="solid"/>
          </a:ln>
        </p:spPr>
      </p:sp>
      <p:sp>
        <p:nvSpPr>
          <p:cNvPr id="22" name="Fold square"/>
          <p:cNvSpPr/>
          <p:nvPr/>
        </p:nvSpPr>
        <p:spPr>
          <a:xfrm>
            <a:off x="5943600" y="2532888"/>
            <a:ext cx="384048" cy="384048"/>
          </a:xfrm>
          <a:prstGeom prst="roundRect">
            <a:avLst>
              <a:gd name="adj" fmla="val 11905"/>
            </a:avLst>
          </a:prstGeom>
          <a:solidFill>
            <a:schemeClr val="bg2"/>
          </a:solidFill>
          <a:ln w="9525">
            <a:solidFill>
              <a:schemeClr val="accent4"/>
            </a:solidFill>
            <a:prstDash val="solid"/>
          </a:ln>
        </p:spPr>
      </p:sp>
      <p:sp>
        <p:nvSpPr>
          <p:cNvPr id="23" name="Fold square"/>
          <p:cNvSpPr/>
          <p:nvPr/>
        </p:nvSpPr>
        <p:spPr>
          <a:xfrm>
            <a:off x="6400800" y="2532888"/>
            <a:ext cx="384048" cy="384048"/>
          </a:xfrm>
          <a:prstGeom prst="roundRect">
            <a:avLst>
              <a:gd name="adj" fmla="val 11905"/>
            </a:avLst>
          </a:prstGeom>
          <a:solidFill>
            <a:schemeClr val="accent1"/>
          </a:solidFill>
          <a:ln w="9525">
            <a:solidFill>
              <a:schemeClr val="accent1"/>
            </a:solidFill>
            <a:prstDash val="solid"/>
          </a:ln>
        </p:spPr>
      </p:sp>
      <p:sp>
        <p:nvSpPr>
          <p:cNvPr id="24" name="Fold square"/>
          <p:cNvSpPr/>
          <p:nvPr/>
        </p:nvSpPr>
        <p:spPr>
          <a:xfrm>
            <a:off x="6858000" y="2532888"/>
            <a:ext cx="384048" cy="384048"/>
          </a:xfrm>
          <a:prstGeom prst="roundRect">
            <a:avLst>
              <a:gd name="adj" fmla="val 11905"/>
            </a:avLst>
          </a:prstGeom>
          <a:solidFill>
            <a:schemeClr val="bg2"/>
          </a:solidFill>
          <a:ln w="9525">
            <a:solidFill>
              <a:schemeClr val="accent4"/>
            </a:solidFill>
            <a:prstDash val="solid"/>
          </a:ln>
        </p:spPr>
      </p:sp>
      <p:sp>
        <p:nvSpPr>
          <p:cNvPr id="25" name="Fold square"/>
          <p:cNvSpPr/>
          <p:nvPr/>
        </p:nvSpPr>
        <p:spPr>
          <a:xfrm>
            <a:off x="7315200" y="2532888"/>
            <a:ext cx="384048" cy="384048"/>
          </a:xfrm>
          <a:prstGeom prst="roundRect">
            <a:avLst>
              <a:gd name="adj" fmla="val 11905"/>
            </a:avLst>
          </a:prstGeom>
          <a:solidFill>
            <a:schemeClr val="bg2"/>
          </a:solidFill>
          <a:ln w="9525">
            <a:solidFill>
              <a:schemeClr val="accent4"/>
            </a:solidFill>
            <a:prstDash val="solid"/>
          </a:ln>
        </p:spPr>
      </p:sp>
      <p:sp>
        <p:nvSpPr>
          <p:cNvPr id="26" name="Fold square"/>
          <p:cNvSpPr/>
          <p:nvPr/>
        </p:nvSpPr>
        <p:spPr>
          <a:xfrm>
            <a:off x="7772400" y="2532888"/>
            <a:ext cx="384048" cy="384048"/>
          </a:xfrm>
          <a:prstGeom prst="roundRect">
            <a:avLst>
              <a:gd name="adj" fmla="val 11905"/>
            </a:avLst>
          </a:prstGeom>
          <a:solidFill>
            <a:schemeClr val="bg2"/>
          </a:solidFill>
          <a:ln w="9525">
            <a:solidFill>
              <a:schemeClr val="accent4"/>
            </a:solidFill>
            <a:prstDash val="solid"/>
          </a:ln>
        </p:spPr>
      </p:sp>
      <p:sp>
        <p:nvSpPr>
          <p:cNvPr id="27" name="Text 25"/>
          <p:cNvSpPr txBox="1"/>
          <p:nvPr/>
        </p:nvSpPr>
        <p:spPr>
          <a:xfrm>
            <a:off x="4206240" y="3099816"/>
            <a:ext cx="777240" cy="384048"/>
          </a:xfrm>
          <a:prstGeom prst="rect">
            <a:avLst/>
          </a:prstGeom>
          <a:noFill/>
          <a:ln/>
        </p:spPr>
        <p:txBody>
          <a:bodyPr wrap="square" lIns="0" tIns="0" rIns="0" bIns="0" rtlCol="0" anchor="ctr"/>
          <a:lstStyle/>
          <a:p>
            <a:pPr marL="0" indent="0">
              <a:buNone/>
            </a:pPr>
            <a:r>
              <a:rPr lang="en-US" sz="1400" dirty="0">
                <a:solidFill>
                  <a:schemeClr val="tx2"/>
                </a:solidFill>
              </a:rPr>
              <a:t>Fold n</a:t>
            </a:r>
            <a:endParaRPr lang="en-US" sz="1400" dirty="0"/>
          </a:p>
        </p:txBody>
      </p:sp>
      <p:sp>
        <p:nvSpPr>
          <p:cNvPr id="28" name="Fold square"/>
          <p:cNvSpPr/>
          <p:nvPr/>
        </p:nvSpPr>
        <p:spPr>
          <a:xfrm>
            <a:off x="5029200" y="3099816"/>
            <a:ext cx="384048" cy="384048"/>
          </a:xfrm>
          <a:prstGeom prst="roundRect">
            <a:avLst>
              <a:gd name="adj" fmla="val 11905"/>
            </a:avLst>
          </a:prstGeom>
          <a:solidFill>
            <a:schemeClr val="bg2"/>
          </a:solidFill>
          <a:ln w="9525">
            <a:solidFill>
              <a:schemeClr val="accent4"/>
            </a:solidFill>
            <a:prstDash val="solid"/>
          </a:ln>
        </p:spPr>
      </p:sp>
      <p:sp>
        <p:nvSpPr>
          <p:cNvPr id="29" name="Fold square"/>
          <p:cNvSpPr/>
          <p:nvPr/>
        </p:nvSpPr>
        <p:spPr>
          <a:xfrm>
            <a:off x="5486400" y="3099816"/>
            <a:ext cx="384048" cy="384048"/>
          </a:xfrm>
          <a:prstGeom prst="roundRect">
            <a:avLst>
              <a:gd name="adj" fmla="val 11905"/>
            </a:avLst>
          </a:prstGeom>
          <a:solidFill>
            <a:schemeClr val="bg2"/>
          </a:solidFill>
          <a:ln w="9525">
            <a:solidFill>
              <a:schemeClr val="accent4"/>
            </a:solidFill>
            <a:prstDash val="solid"/>
          </a:ln>
        </p:spPr>
      </p:sp>
      <p:sp>
        <p:nvSpPr>
          <p:cNvPr id="30" name="Fold square"/>
          <p:cNvSpPr/>
          <p:nvPr/>
        </p:nvSpPr>
        <p:spPr>
          <a:xfrm>
            <a:off x="5943600" y="3099816"/>
            <a:ext cx="384048" cy="384048"/>
          </a:xfrm>
          <a:prstGeom prst="roundRect">
            <a:avLst>
              <a:gd name="adj" fmla="val 11905"/>
            </a:avLst>
          </a:prstGeom>
          <a:solidFill>
            <a:schemeClr val="bg2"/>
          </a:solidFill>
          <a:ln w="9525">
            <a:solidFill>
              <a:schemeClr val="accent4"/>
            </a:solidFill>
            <a:prstDash val="solid"/>
          </a:ln>
        </p:spPr>
      </p:sp>
      <p:sp>
        <p:nvSpPr>
          <p:cNvPr id="31" name="Fold square"/>
          <p:cNvSpPr/>
          <p:nvPr/>
        </p:nvSpPr>
        <p:spPr>
          <a:xfrm>
            <a:off x="6400800" y="3099816"/>
            <a:ext cx="384048" cy="384048"/>
          </a:xfrm>
          <a:prstGeom prst="roundRect">
            <a:avLst>
              <a:gd name="adj" fmla="val 11905"/>
            </a:avLst>
          </a:prstGeom>
          <a:solidFill>
            <a:schemeClr val="bg2"/>
          </a:solidFill>
          <a:ln w="9525">
            <a:solidFill>
              <a:schemeClr val="accent4"/>
            </a:solidFill>
            <a:prstDash val="solid"/>
          </a:ln>
        </p:spPr>
      </p:sp>
      <p:sp>
        <p:nvSpPr>
          <p:cNvPr id="32" name="Fold square"/>
          <p:cNvSpPr/>
          <p:nvPr/>
        </p:nvSpPr>
        <p:spPr>
          <a:xfrm>
            <a:off x="6858000" y="3099816"/>
            <a:ext cx="384048" cy="384048"/>
          </a:xfrm>
          <a:prstGeom prst="roundRect">
            <a:avLst>
              <a:gd name="adj" fmla="val 11905"/>
            </a:avLst>
          </a:prstGeom>
          <a:solidFill>
            <a:schemeClr val="bg2"/>
          </a:solidFill>
          <a:ln w="9525">
            <a:solidFill>
              <a:schemeClr val="accent4"/>
            </a:solidFill>
            <a:prstDash val="solid"/>
          </a:ln>
        </p:spPr>
      </p:sp>
      <p:sp>
        <p:nvSpPr>
          <p:cNvPr id="33" name="Fold square"/>
          <p:cNvSpPr/>
          <p:nvPr/>
        </p:nvSpPr>
        <p:spPr>
          <a:xfrm>
            <a:off x="7315200" y="3099816"/>
            <a:ext cx="384048" cy="384048"/>
          </a:xfrm>
          <a:prstGeom prst="roundRect">
            <a:avLst>
              <a:gd name="adj" fmla="val 11905"/>
            </a:avLst>
          </a:prstGeom>
          <a:solidFill>
            <a:schemeClr val="bg2"/>
          </a:solidFill>
          <a:ln w="9525">
            <a:solidFill>
              <a:schemeClr val="accent4"/>
            </a:solidFill>
            <a:prstDash val="solid"/>
          </a:ln>
        </p:spPr>
      </p:sp>
      <p:sp>
        <p:nvSpPr>
          <p:cNvPr id="34" name="Fold square"/>
          <p:cNvSpPr/>
          <p:nvPr/>
        </p:nvSpPr>
        <p:spPr>
          <a:xfrm>
            <a:off x="7772400" y="3099816"/>
            <a:ext cx="384048" cy="384048"/>
          </a:xfrm>
          <a:prstGeom prst="roundRect">
            <a:avLst>
              <a:gd name="adj" fmla="val 11905"/>
            </a:avLst>
          </a:prstGeom>
          <a:solidFill>
            <a:schemeClr val="accent1"/>
          </a:solidFill>
          <a:ln w="9525">
            <a:solidFill>
              <a:schemeClr val="accent1"/>
            </a:solidFill>
            <a:prstDash val="solid"/>
          </a:ln>
        </p:spPr>
      </p:sp>
      <p:sp>
        <p:nvSpPr>
          <p:cNvPr id="35" name="Shape 33"/>
          <p:cNvSpPr/>
          <p:nvPr/>
        </p:nvSpPr>
        <p:spPr>
          <a:xfrm>
            <a:off x="5029200" y="3730752"/>
            <a:ext cx="237744" cy="237744"/>
          </a:xfrm>
          <a:prstGeom prst="roundRect">
            <a:avLst>
              <a:gd name="adj" fmla="val 15385"/>
            </a:avLst>
          </a:prstGeom>
          <a:solidFill>
            <a:schemeClr val="bg2"/>
          </a:solidFill>
          <a:ln w="9525">
            <a:solidFill>
              <a:schemeClr val="accent4"/>
            </a:solidFill>
            <a:prstDash val="solid"/>
          </a:ln>
        </p:spPr>
      </p:sp>
      <p:sp>
        <p:nvSpPr>
          <p:cNvPr id="36" name="Text 34"/>
          <p:cNvSpPr txBox="1"/>
          <p:nvPr/>
        </p:nvSpPr>
        <p:spPr>
          <a:xfrm>
            <a:off x="5349240" y="3703320"/>
            <a:ext cx="731520" cy="292608"/>
          </a:xfrm>
          <a:prstGeom prst="rect">
            <a:avLst/>
          </a:prstGeom>
          <a:noFill/>
          <a:ln/>
        </p:spPr>
        <p:txBody>
          <a:bodyPr wrap="square" lIns="0" tIns="0" rIns="0" bIns="0" rtlCol="0" anchor="ctr"/>
          <a:lstStyle/>
          <a:p>
            <a:pPr marL="0" indent="0">
              <a:buNone/>
            </a:pPr>
            <a:r>
              <a:rPr lang="en-US" sz="1400" dirty="0">
                <a:solidFill>
                  <a:schemeClr val="tx1"/>
                </a:solidFill>
              </a:rPr>
              <a:t>Train</a:t>
            </a:r>
            <a:endParaRPr lang="en-US" sz="1400" dirty="0"/>
          </a:p>
        </p:txBody>
      </p:sp>
      <p:sp>
        <p:nvSpPr>
          <p:cNvPr id="37" name="Shape 35"/>
          <p:cNvSpPr/>
          <p:nvPr/>
        </p:nvSpPr>
        <p:spPr>
          <a:xfrm>
            <a:off x="6172200" y="3730752"/>
            <a:ext cx="237744" cy="237744"/>
          </a:xfrm>
          <a:prstGeom prst="roundRect">
            <a:avLst>
              <a:gd name="adj" fmla="val 15385"/>
            </a:avLst>
          </a:prstGeom>
          <a:solidFill>
            <a:schemeClr val="accent1"/>
          </a:solidFill>
          <a:ln w="12700">
            <a:solidFill>
              <a:schemeClr val="accent1"/>
            </a:solidFill>
            <a:prstDash val="solid"/>
          </a:ln>
        </p:spPr>
      </p:sp>
      <p:sp>
        <p:nvSpPr>
          <p:cNvPr id="38" name="Text 36"/>
          <p:cNvSpPr txBox="1"/>
          <p:nvPr/>
        </p:nvSpPr>
        <p:spPr>
          <a:xfrm>
            <a:off x="6492240" y="3703320"/>
            <a:ext cx="2011680" cy="292608"/>
          </a:xfrm>
          <a:prstGeom prst="rect">
            <a:avLst/>
          </a:prstGeom>
          <a:noFill/>
          <a:ln/>
        </p:spPr>
        <p:txBody>
          <a:bodyPr wrap="square" lIns="0" tIns="0" rIns="0" bIns="0" rtlCol="0" anchor="ctr"/>
          <a:lstStyle/>
          <a:p>
            <a:pPr marL="0" indent="0">
              <a:buNone/>
            </a:pPr>
            <a:r>
              <a:rPr lang="en-US" sz="1400" dirty="0">
                <a:solidFill>
                  <a:schemeClr val="tx1"/>
                </a:solidFill>
              </a:rPr>
              <a:t>Test (held-out participant)</a:t>
            </a:r>
            <a:endParaRPr lang="en-US" sz="1400" dirty="0"/>
          </a:p>
        </p:txBody>
      </p:sp>
      <p:sp>
        <p:nvSpPr>
          <p:cNvPr id="39" name="Text 37"/>
          <p:cNvSpPr txBox="1"/>
          <p:nvPr/>
        </p:nvSpPr>
        <p:spPr>
          <a:xfrm>
            <a:off x="4206240" y="4114800"/>
            <a:ext cx="4023360" cy="274320"/>
          </a:xfrm>
          <a:prstGeom prst="rect">
            <a:avLst/>
          </a:prstGeom>
          <a:noFill/>
          <a:ln/>
        </p:spPr>
        <p:txBody>
          <a:bodyPr wrap="square" lIns="0" tIns="0" rIns="0" bIns="0" rtlCol="0" anchor="t"/>
          <a:lstStyle/>
          <a:p>
            <a:pPr marL="0" indent="0">
              <a:buNone/>
            </a:pPr>
            <a:r>
              <a:rPr lang="en-US" sz="1200" i="1" dirty="0">
                <a:solidFill>
                  <a:schemeClr val="tx2"/>
                </a:solidFill>
              </a:rPr>
              <a:t>Schematic: each square is one participant</a:t>
            </a:r>
            <a:endParaRPr lang="en-US" sz="1200" dirty="0"/>
          </a:p>
        </p:txBody>
      </p:sp>
      <p:sp>
        <p:nvSpPr>
          <p:cNvPr id="40" name="Text 38"/>
          <p:cNvSpPr txBox="1"/>
          <p:nvPr/>
        </p:nvSpPr>
        <p:spPr>
          <a:xfrm>
            <a:off x="4206240" y="4526280"/>
            <a:ext cx="411480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One participant is held out in each fold</a:t>
            </a:r>
            <a:endParaRPr lang="en-US" sz="1400" dirty="0"/>
          </a:p>
          <a:p>
            <a:pPr marL="342900" indent="-342900">
              <a:spcAft>
                <a:spcPts val="600"/>
              </a:spcAft>
              <a:buSzPct val="100000"/>
              <a:buChar char="•"/>
            </a:pPr>
            <a:r>
              <a:rPr lang="en-US" sz="1400" dirty="0">
                <a:solidFill>
                  <a:schemeClr val="tx1"/>
                </a:solidFill>
              </a:rPr>
              <a:t>Train on all remaining participants</a:t>
            </a:r>
            <a:endParaRPr lang="en-US" sz="1400" dirty="0"/>
          </a:p>
          <a:p>
            <a:pPr marL="342900" indent="-342900">
              <a:spcAft>
                <a:spcPts val="600"/>
              </a:spcAft>
              <a:buSzPct val="100000"/>
              <a:buChar char="•"/>
            </a:pPr>
            <a:r>
              <a:rPr lang="en-US" sz="1400" dirty="0">
                <a:solidFill>
                  <a:schemeClr val="tx1"/>
                </a:solidFill>
              </a:rPr>
              <a:t>Repeat until each eligible participant has been held out</a:t>
            </a:r>
            <a:endParaRPr lang="en-US" sz="1400" dirty="0"/>
          </a:p>
        </p:txBody>
      </p:sp>
      <p:sp>
        <p:nvSpPr>
          <p:cNvPr id="41" name="Text 39"/>
          <p:cNvSpPr txBox="1"/>
          <p:nvPr/>
        </p:nvSpPr>
        <p:spPr>
          <a:xfrm>
            <a:off x="8686800" y="1463040"/>
            <a:ext cx="2834640" cy="320040"/>
          </a:xfrm>
          <a:prstGeom prst="rect">
            <a:avLst/>
          </a:prstGeom>
          <a:noFill/>
          <a:ln/>
        </p:spPr>
        <p:txBody>
          <a:bodyPr wrap="square" lIns="0" tIns="0" rIns="0" bIns="0" rtlCol="0" anchor="t"/>
          <a:lstStyle/>
          <a:p>
            <a:pPr marL="0" indent="0">
              <a:buNone/>
            </a:pPr>
            <a:r>
              <a:rPr lang="en-US" sz="1800" b="1" dirty="0">
                <a:solidFill>
                  <a:schemeClr val="accent1"/>
                </a:solidFill>
              </a:rPr>
              <a:t>Leakage prevention</a:t>
            </a:r>
            <a:endParaRPr lang="en-US" sz="1800" dirty="0"/>
          </a:p>
        </p:txBody>
      </p:sp>
      <p:sp>
        <p:nvSpPr>
          <p:cNvPr id="42" name="Text 40"/>
          <p:cNvSpPr txBox="1"/>
          <p:nvPr/>
        </p:nvSpPr>
        <p:spPr>
          <a:xfrm>
            <a:off x="8686800" y="1965960"/>
            <a:ext cx="2862072" cy="27432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Scaling fitted within the training fold using a pipeline</a:t>
            </a:r>
            <a:endParaRPr lang="en-US" sz="1400" dirty="0"/>
          </a:p>
          <a:p>
            <a:pPr marL="342900" indent="-342900">
              <a:spcAft>
                <a:spcPts val="1000"/>
              </a:spcAft>
              <a:buSzPct val="100000"/>
              <a:buChar char="•"/>
            </a:pPr>
            <a:r>
              <a:rPr lang="en-US" sz="1400" dirty="0">
                <a:solidFill>
                  <a:schemeClr val="tx1"/>
                </a:solidFill>
              </a:rPr>
              <a:t>Participant IDs excluded from predictors</a:t>
            </a:r>
            <a:endParaRPr lang="en-US" sz="1400" dirty="0"/>
          </a:p>
          <a:p>
            <a:pPr marL="342900" indent="-342900">
              <a:spcAft>
                <a:spcPts val="1000"/>
              </a:spcAft>
              <a:buSzPct val="100000"/>
              <a:buChar char="•"/>
            </a:pPr>
            <a:r>
              <a:rPr lang="en-US" sz="1400" dirty="0">
                <a:solidFill>
                  <a:schemeClr val="tx1"/>
                </a:solidFill>
              </a:rPr>
              <a:t>Target-derived variables and window timestamps excluded</a:t>
            </a:r>
            <a:endParaRPr lang="en-US" sz="1400" dirty="0"/>
          </a:p>
        </p:txBody>
      </p:sp>
      <p:sp>
        <p:nvSpPr>
          <p:cNvPr id="43" name="Train-test note"/>
          <p:cNvSpPr/>
          <p:nvPr/>
        </p:nvSpPr>
        <p:spPr>
          <a:xfrm>
            <a:off x="640080" y="5574631"/>
            <a:ext cx="10908792" cy="731520"/>
          </a:xfrm>
          <a:prstGeom prst="roundRect">
            <a:avLst>
              <a:gd name="adj" fmla="val 10000"/>
            </a:avLst>
          </a:prstGeom>
          <a:solidFill>
            <a:schemeClr val="bg2"/>
          </a:solidFill>
          <a:ln w="12700">
            <a:solidFill>
              <a:schemeClr val="bg2"/>
            </a:solidFill>
            <a:prstDash val="solid"/>
          </a:ln>
        </p:spPr>
      </p:sp>
      <p:sp>
        <p:nvSpPr>
          <p:cNvPr id="44" name="Text 42"/>
          <p:cNvSpPr txBox="1"/>
          <p:nvPr/>
        </p:nvSpPr>
        <p:spPr>
          <a:xfrm>
            <a:off x="868680" y="5566610"/>
            <a:ext cx="10469880" cy="731520"/>
          </a:xfrm>
          <a:prstGeom prst="rect">
            <a:avLst/>
          </a:prstGeom>
          <a:noFill/>
          <a:ln/>
        </p:spPr>
        <p:txBody>
          <a:bodyPr wrap="square" lIns="0" tIns="0" rIns="0" bIns="0" rtlCol="0" anchor="ctr"/>
          <a:lstStyle/>
          <a:p>
            <a:pPr marL="0" indent="0">
              <a:buNone/>
            </a:pPr>
            <a:r>
              <a:rPr lang="en-US" sz="1400" b="1" dirty="0">
                <a:solidFill>
                  <a:schemeClr val="accent1"/>
                </a:solidFill>
              </a:rPr>
              <a:t>Training / testing: </a:t>
            </a:r>
            <a:r>
              <a:rPr lang="en-US" sz="1400" dirty="0">
                <a:solidFill>
                  <a:schemeClr val="tx1"/>
                </a:solidFill>
              </a:rPr>
              <a:t>the held-out participant is the test fold. No separate validation set</a:t>
            </a:r>
            <a:endParaRPr lang="en-US" sz="1400" dirty="0"/>
          </a:p>
        </p:txBody>
      </p:sp>
      <p:sp>
        <p:nvSpPr>
          <p:cNvPr id="45" name="Slide Number Placeholder 0"/>
          <p:cNvSpPr>
            <a:spLocks noGrp="1"/>
          </p:cNvSpPr>
          <p:nvPr>
            <p:ph type="sldNum" sz="quarter" idx="4294967295"/>
          </p:nvPr>
        </p:nvSpPr>
        <p:spPr>
          <a:xfrm>
            <a:off x="10634472" y="642823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908792" cy="822960"/>
          </a:xfrm>
          <a:prstGeom prst="rect">
            <a:avLst/>
          </a:prstGeom>
          <a:noFill/>
          <a:ln/>
        </p:spPr>
        <p:txBody>
          <a:bodyPr wrap="square" lIns="0" tIns="0" rIns="0" bIns="0" rtlCol="0" anchor="ctr"/>
          <a:lstStyle/>
          <a:p>
            <a:pPr marL="0" indent="0">
              <a:buNone/>
            </a:pPr>
            <a:r>
              <a:rPr lang="en-US" sz="3400" b="1" dirty="0">
                <a:solidFill>
                  <a:schemeClr val="tx1"/>
                </a:solidFill>
              </a:rPr>
              <a:t>Evaluation Metrics</a:t>
            </a:r>
            <a:endParaRPr lang="en-US" sz="3400" dirty="0"/>
          </a:p>
        </p:txBody>
      </p:sp>
      <p:graphicFrame>
        <p:nvGraphicFramePr>
          <p:cNvPr id="10" name="Metrics table"/>
          <p:cNvGraphicFramePr>
            <a:graphicFrameLocks noGrp="1"/>
          </p:cNvGraphicFramePr>
          <p:nvPr>
            <p:extLst>
              <p:ext uri="{D42A27DB-BD31-4B8C-83A1-F6EECF244321}">
                <p14:modId xmlns:p14="http://schemas.microsoft.com/office/powerpoint/2010/main" val="1579011935"/>
              </p:ext>
            </p:extLst>
          </p:nvPr>
        </p:nvGraphicFramePr>
        <p:xfrm>
          <a:off x="640080" y="1554480"/>
          <a:ext cx="7040880" cy="3749040"/>
        </p:xfrm>
        <a:graphic>
          <a:graphicData uri="http://schemas.openxmlformats.org/drawingml/2006/table">
            <a:tbl>
              <a:tblPr/>
              <a:tblGrid>
                <a:gridCol w="219456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tblGrid>
              <a:tr h="457200">
                <a:tc>
                  <a:txBody>
                    <a:bodyPr/>
                    <a:lstStyle/>
                    <a:p>
                      <a:pPr marL="0" indent="0" algn="l">
                        <a:buNone/>
                      </a:pPr>
                      <a:r>
                        <a:rPr lang="en-US" sz="1400" b="1" dirty="0">
                          <a:solidFill>
                            <a:srgbClr val="3F6F78"/>
                          </a:solidFill>
                        </a:rPr>
                        <a:t>Metric</a:t>
                      </a:r>
                      <a:endParaRPr lang="en-US" sz="1400" dirty="0"/>
                    </a:p>
                  </a:txBody>
                  <a:tcPr marT="36576" marB="36576" anchor="ctr">
                    <a:lnL w="0" cap="flat" cmpd="sng" algn="ctr">
                      <a:noFill/>
                    </a:lnL>
                    <a:lnR w="0" cap="flat" cmpd="sng" algn="ctr">
                      <a:noFill/>
                    </a:lnR>
                    <a:lnT w="0" cap="flat" cmpd="sng" algn="ctr">
                      <a:noFill/>
                    </a:lnT>
                    <a:lnB w="9525" cap="flat" cmpd="sng" algn="ctr">
                      <a:solidFill>
                        <a:srgbClr val="C9CED0"/>
                      </a:solidFill>
                      <a:prstDash val="solid"/>
                      <a:round/>
                      <a:headEnd type="none" w="med" len="med"/>
                      <a:tailEnd type="none" w="med" len="med"/>
                    </a:lnB>
                    <a:solidFill>
                      <a:srgbClr val="ECEEEC"/>
                    </a:solidFill>
                  </a:tcPr>
                </a:tc>
                <a:tc>
                  <a:txBody>
                    <a:bodyPr/>
                    <a:lstStyle/>
                    <a:p>
                      <a:pPr marL="0" indent="0" algn="l">
                        <a:buNone/>
                      </a:pPr>
                      <a:r>
                        <a:rPr lang="en-US" sz="1400" b="1" dirty="0">
                          <a:solidFill>
                            <a:srgbClr val="3F6F78"/>
                          </a:solidFill>
                        </a:rPr>
                        <a:t>What it tells us</a:t>
                      </a:r>
                      <a:endParaRPr lang="en-US" sz="1400" dirty="0"/>
                    </a:p>
                  </a:txBody>
                  <a:tcPr marT="36576" marB="36576" anchor="ctr">
                    <a:lnL w="0" cap="flat" cmpd="sng" algn="ctr">
                      <a:noFill/>
                    </a:lnL>
                    <a:lnR w="0" cap="flat" cmpd="sng" algn="ctr">
                      <a:noFill/>
                    </a:lnR>
                    <a:lnT w="0" cap="flat" cmpd="sng" algn="ctr">
                      <a:noFill/>
                    </a:lnT>
                    <a:lnB w="9525" cap="flat" cmpd="sng" algn="ctr">
                      <a:solidFill>
                        <a:srgbClr val="C9CED0"/>
                      </a:solidFill>
                      <a:prstDash val="solid"/>
                      <a:round/>
                      <a:headEnd type="none" w="med" len="med"/>
                      <a:tailEnd type="none" w="med" len="med"/>
                    </a:lnB>
                    <a:solidFill>
                      <a:srgbClr val="ECEEEC"/>
                    </a:solidFill>
                  </a:tcPr>
                </a:tc>
                <a:extLst>
                  <a:ext uri="{0D108BD9-81ED-4DB2-BD59-A6C34878D82A}">
                    <a16:rowId xmlns:a16="http://schemas.microsoft.com/office/drawing/2014/main" val="10000"/>
                  </a:ext>
                </a:extLst>
              </a:tr>
              <a:tr h="658368">
                <a:tc>
                  <a:txBody>
                    <a:bodyPr/>
                    <a:lstStyle/>
                    <a:p>
                      <a:pPr marL="0" indent="0">
                        <a:buNone/>
                      </a:pPr>
                      <a:r>
                        <a:rPr lang="en-US" sz="1400" b="1" dirty="0">
                          <a:solidFill>
                            <a:srgbClr val="2B2F33"/>
                          </a:solidFill>
                        </a:rPr>
                        <a:t>Balanced accuracy</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buNone/>
                      </a:pPr>
                      <a:r>
                        <a:rPr lang="en-US" sz="1400" dirty="0">
                          <a:solidFill>
                            <a:srgbClr val="2B2F33"/>
                          </a:solidFill>
                        </a:rPr>
                        <a:t>Average recall across both classes</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buNone/>
                      </a:pPr>
                      <a:r>
                        <a:rPr lang="en-US" sz="1400" b="1" dirty="0">
                          <a:solidFill>
                            <a:srgbClr val="2B2F33"/>
                          </a:solidFill>
                        </a:rPr>
                        <a:t>Macro F1-score</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buNone/>
                      </a:pPr>
                      <a:r>
                        <a:rPr lang="en-US" sz="1400" dirty="0">
                          <a:solidFill>
                            <a:srgbClr val="2B2F33"/>
                          </a:solidFill>
                        </a:rPr>
                        <a:t>Balance between precision and recall across classes</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extLst>
                  <a:ext uri="{0D108BD9-81ED-4DB2-BD59-A6C34878D82A}">
                    <a16:rowId xmlns:a16="http://schemas.microsoft.com/office/drawing/2014/main" val="10002"/>
                  </a:ext>
                </a:extLst>
              </a:tr>
              <a:tr h="658368">
                <a:tc>
                  <a:txBody>
                    <a:bodyPr/>
                    <a:lstStyle/>
                    <a:p>
                      <a:pPr marL="0" indent="0">
                        <a:buNone/>
                      </a:pPr>
                      <a:r>
                        <a:rPr lang="en-US" sz="1400" b="1" dirty="0">
                          <a:solidFill>
                            <a:srgbClr val="2B2F33"/>
                          </a:solidFill>
                        </a:rPr>
                        <a:t>Stress recall</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buNone/>
                      </a:pPr>
                      <a:r>
                        <a:rPr lang="en-US" sz="1400" dirty="0">
                          <a:solidFill>
                            <a:srgbClr val="2B2F33"/>
                          </a:solidFill>
                        </a:rPr>
                        <a:t>Fraction of actual stress cases detected</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buNone/>
                      </a:pPr>
                      <a:r>
                        <a:rPr lang="en-US" sz="1400" b="1" dirty="0">
                          <a:solidFill>
                            <a:srgbClr val="2B2F33"/>
                          </a:solidFill>
                        </a:rPr>
                        <a:t>ROC-AUC</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buNone/>
                      </a:pPr>
                      <a:r>
                        <a:rPr lang="en-US" sz="1400" dirty="0">
                          <a:solidFill>
                            <a:srgbClr val="2B2F33"/>
                          </a:solidFill>
                        </a:rPr>
                        <a:t>Ability to rank stress cases above baseline cases</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extLst>
                  <a:ext uri="{0D108BD9-81ED-4DB2-BD59-A6C34878D82A}">
                    <a16:rowId xmlns:a16="http://schemas.microsoft.com/office/drawing/2014/main" val="10004"/>
                  </a:ext>
                </a:extLst>
              </a:tr>
              <a:tr h="658368">
                <a:tc>
                  <a:txBody>
                    <a:bodyPr/>
                    <a:lstStyle/>
                    <a:p>
                      <a:pPr marL="0" indent="0">
                        <a:buNone/>
                      </a:pPr>
                      <a:r>
                        <a:rPr lang="en-US" sz="1400" b="1" dirty="0">
                          <a:solidFill>
                            <a:srgbClr val="2B2F33"/>
                          </a:solidFill>
                        </a:rPr>
                        <a:t>PR-AUC</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buNone/>
                      </a:pPr>
                      <a:r>
                        <a:rPr lang="en-US" sz="1400" dirty="0">
                          <a:solidFill>
                            <a:srgbClr val="2B2F33"/>
                          </a:solidFill>
                        </a:rPr>
                        <a:t>Performance focused on the positive class, especially useful with imbalance</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Why not accuracy card"/>
          <p:cNvSpPr/>
          <p:nvPr/>
        </p:nvSpPr>
        <p:spPr>
          <a:xfrm>
            <a:off x="8046720" y="1554480"/>
            <a:ext cx="3502152" cy="2240280"/>
          </a:xfrm>
          <a:prstGeom prst="roundRect">
            <a:avLst>
              <a:gd name="adj" fmla="val 3265"/>
            </a:avLst>
          </a:prstGeom>
          <a:solidFill>
            <a:schemeClr val="bg2"/>
          </a:solidFill>
          <a:ln w="12700">
            <a:solidFill>
              <a:schemeClr val="bg2"/>
            </a:solidFill>
            <a:prstDash val="solid"/>
          </a:ln>
        </p:spPr>
      </p:sp>
      <p:sp>
        <p:nvSpPr>
          <p:cNvPr id="5" name="Text 2"/>
          <p:cNvSpPr txBox="1"/>
          <p:nvPr/>
        </p:nvSpPr>
        <p:spPr>
          <a:xfrm>
            <a:off x="8275320" y="1737360"/>
            <a:ext cx="3063240" cy="1920240"/>
          </a:xfrm>
          <a:prstGeom prst="rect">
            <a:avLst/>
          </a:prstGeom>
          <a:noFill/>
          <a:ln/>
        </p:spPr>
        <p:txBody>
          <a:bodyPr wrap="square" lIns="0" tIns="0" rIns="0" bIns="0" rtlCol="0" anchor="t"/>
          <a:lstStyle/>
          <a:p>
            <a:pPr marL="0" indent="0">
              <a:spcAft>
                <a:spcPts val="600"/>
              </a:spcAft>
              <a:buNone/>
            </a:pPr>
            <a:r>
              <a:rPr lang="en-US" sz="1600" b="1" dirty="0">
                <a:solidFill>
                  <a:schemeClr val="accent1"/>
                </a:solidFill>
              </a:rPr>
              <a:t>Why not accuracy alone?</a:t>
            </a:r>
            <a:endParaRPr lang="en-US" sz="1400" dirty="0"/>
          </a:p>
          <a:p>
            <a:pPr marL="0" indent="0">
              <a:buNone/>
            </a:pPr>
            <a:r>
              <a:rPr lang="en-US" sz="1400" dirty="0">
                <a:solidFill>
                  <a:schemeClr val="tx1"/>
                </a:solidFill>
              </a:rPr>
              <a:t>A model can look accurate while performing poorly on one class. Balanced accuracy, macro F1 and stress recall add that information.</a:t>
            </a:r>
            <a:endParaRPr lang="en-US" sz="1400" dirty="0"/>
          </a:p>
        </p:txBody>
      </p:sp>
      <p:sp>
        <p:nvSpPr>
          <p:cNvPr id="25" name="Slide Number Placeholder 0"/>
          <p:cNvSpPr>
            <a:spLocks noGrp="1"/>
          </p:cNvSpPr>
          <p:nvPr>
            <p:ph type="sldNum" sz="quarter" idx="4294967295"/>
          </p:nvPr>
        </p:nvSpPr>
        <p:spPr>
          <a:xfrm>
            <a:off x="10634472" y="642823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908792" cy="822960"/>
          </a:xfrm>
          <a:prstGeom prst="rect">
            <a:avLst/>
          </a:prstGeom>
          <a:noFill/>
          <a:ln/>
        </p:spPr>
        <p:txBody>
          <a:bodyPr wrap="square" lIns="0" tIns="0" rIns="0" bIns="0" rtlCol="0" anchor="ctr"/>
          <a:lstStyle/>
          <a:p>
            <a:pPr marL="0" indent="0">
              <a:buNone/>
            </a:pPr>
            <a:r>
              <a:rPr lang="en-US" sz="3400" b="1" dirty="0">
                <a:solidFill>
                  <a:schemeClr val="tx1"/>
                </a:solidFill>
              </a:rPr>
              <a:t>Results: WESAD</a:t>
            </a:r>
            <a:endParaRPr lang="en-US" sz="3400" dirty="0"/>
          </a:p>
        </p:txBody>
      </p:sp>
      <p:graphicFrame>
        <p:nvGraphicFramePr>
          <p:cNvPr id="11" name="WESAD results table"/>
          <p:cNvGraphicFramePr>
            <a:graphicFrameLocks noGrp="1"/>
          </p:cNvGraphicFramePr>
          <p:nvPr>
            <p:extLst>
              <p:ext uri="{D42A27DB-BD31-4B8C-83A1-F6EECF244321}">
                <p14:modId xmlns:p14="http://schemas.microsoft.com/office/powerpoint/2010/main" val="1579011935"/>
              </p:ext>
            </p:extLst>
          </p:nvPr>
        </p:nvGraphicFramePr>
        <p:xfrm>
          <a:off x="640080" y="1600200"/>
          <a:ext cx="7315200" cy="2834640"/>
        </p:xfrm>
        <a:graphic>
          <a:graphicData uri="http://schemas.openxmlformats.org/drawingml/2006/table">
            <a:tbl>
              <a:tblPr/>
              <a:tblGrid>
                <a:gridCol w="25603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777240">
                <a:tc>
                  <a:txBody>
                    <a:bodyPr/>
                    <a:lstStyle/>
                    <a:p>
                      <a:pPr marL="0" indent="0" algn="l">
                        <a:buNone/>
                      </a:pPr>
                      <a:r>
                        <a:rPr lang="en-US" sz="1400" b="1" dirty="0">
                          <a:solidFill>
                            <a:srgbClr val="3F6F78"/>
                          </a:solidFill>
                        </a:rPr>
                        <a:t>Model</a:t>
                      </a:r>
                      <a:endParaRPr lang="en-US" sz="1400" dirty="0"/>
                    </a:p>
                  </a:txBody>
                  <a:tcPr marT="36576" marB="36576" anchor="ctr">
                    <a:lnL w="0" cap="flat" cmpd="sng" algn="ctr">
                      <a:noFill/>
                    </a:lnL>
                    <a:lnR w="0" cap="flat" cmpd="sng" algn="ctr">
                      <a:noFill/>
                    </a:lnR>
                    <a:lnT w="0" cap="flat" cmpd="sng" algn="ctr">
                      <a:noFill/>
                    </a:lnT>
                    <a:lnB w="9525" cap="flat" cmpd="sng" algn="ctr">
                      <a:solidFill>
                        <a:srgbClr val="C9CED0"/>
                      </a:solidFill>
                      <a:prstDash val="solid"/>
                      <a:round/>
                      <a:headEnd type="none" w="med" len="med"/>
                      <a:tailEnd type="none" w="med" len="med"/>
                    </a:lnB>
                    <a:solidFill>
                      <a:srgbClr val="ECEEEC"/>
                    </a:solidFill>
                  </a:tcPr>
                </a:tc>
                <a:tc>
                  <a:txBody>
                    <a:bodyPr/>
                    <a:lstStyle/>
                    <a:p>
                      <a:pPr marL="0" indent="0" algn="ctr">
                        <a:buNone/>
                      </a:pPr>
                      <a:r>
                        <a:rPr lang="en-US" sz="1400" b="1" dirty="0">
                          <a:solidFill>
                            <a:srgbClr val="3F6F78"/>
                          </a:solidFill>
                        </a:rPr>
                        <a:t>Balanced accuracy</a:t>
                      </a:r>
                      <a:endParaRPr lang="en-US" sz="1400" dirty="0"/>
                    </a:p>
                  </a:txBody>
                  <a:tcPr marT="36576" marB="36576" anchor="ctr">
                    <a:lnL w="0" cap="flat" cmpd="sng" algn="ctr">
                      <a:noFill/>
                    </a:lnL>
                    <a:lnR w="0" cap="flat" cmpd="sng" algn="ctr">
                      <a:noFill/>
                    </a:lnR>
                    <a:lnT w="0" cap="flat" cmpd="sng" algn="ctr">
                      <a:noFill/>
                    </a:lnT>
                    <a:lnB w="9525" cap="flat" cmpd="sng" algn="ctr">
                      <a:solidFill>
                        <a:srgbClr val="C9CED0"/>
                      </a:solidFill>
                      <a:prstDash val="solid"/>
                      <a:round/>
                      <a:headEnd type="none" w="med" len="med"/>
                      <a:tailEnd type="none" w="med" len="med"/>
                    </a:lnB>
                    <a:solidFill>
                      <a:srgbClr val="ECEEEC"/>
                    </a:solidFill>
                  </a:tcPr>
                </a:tc>
                <a:tc>
                  <a:txBody>
                    <a:bodyPr/>
                    <a:lstStyle/>
                    <a:p>
                      <a:pPr marL="0" indent="0" algn="ctr">
                        <a:buNone/>
                      </a:pPr>
                      <a:r>
                        <a:rPr lang="en-US" sz="1400" b="1" dirty="0">
                          <a:solidFill>
                            <a:srgbClr val="3F6F78"/>
                          </a:solidFill>
                        </a:rPr>
                        <a:t>Macro F1-score</a:t>
                      </a:r>
                      <a:endParaRPr lang="en-US" sz="1400" dirty="0"/>
                    </a:p>
                  </a:txBody>
                  <a:tcPr marT="36576" marB="36576" anchor="ctr">
                    <a:lnL w="0" cap="flat" cmpd="sng" algn="ctr">
                      <a:noFill/>
                    </a:lnL>
                    <a:lnR w="0" cap="flat" cmpd="sng" algn="ctr">
                      <a:noFill/>
                    </a:lnR>
                    <a:lnT w="0" cap="flat" cmpd="sng" algn="ctr">
                      <a:noFill/>
                    </a:lnT>
                    <a:lnB w="9525" cap="flat" cmpd="sng" algn="ctr">
                      <a:solidFill>
                        <a:srgbClr val="C9CED0"/>
                      </a:solidFill>
                      <a:prstDash val="solid"/>
                      <a:round/>
                      <a:headEnd type="none" w="med" len="med"/>
                      <a:tailEnd type="none" w="med" len="med"/>
                    </a:lnB>
                    <a:solidFill>
                      <a:srgbClr val="ECEEEC"/>
                    </a:solidFill>
                  </a:tcPr>
                </a:tc>
                <a:tc>
                  <a:txBody>
                    <a:bodyPr/>
                    <a:lstStyle/>
                    <a:p>
                      <a:pPr marL="0" indent="0" algn="ctr">
                        <a:buNone/>
                      </a:pPr>
                      <a:r>
                        <a:rPr lang="en-US" sz="1400" b="1" dirty="0">
                          <a:solidFill>
                            <a:srgbClr val="3F6F78"/>
                          </a:solidFill>
                        </a:rPr>
                        <a:t>Stress recall</a:t>
                      </a:r>
                      <a:endParaRPr lang="en-US" sz="1400" dirty="0"/>
                    </a:p>
                  </a:txBody>
                  <a:tcPr marT="36576" marB="36576" anchor="ctr">
                    <a:lnL w="0" cap="flat" cmpd="sng" algn="ctr">
                      <a:noFill/>
                    </a:lnL>
                    <a:lnR w="0" cap="flat" cmpd="sng" algn="ctr">
                      <a:noFill/>
                    </a:lnR>
                    <a:lnT w="0" cap="flat" cmpd="sng" algn="ctr">
                      <a:noFill/>
                    </a:lnT>
                    <a:lnB w="9525" cap="flat" cmpd="sng" algn="ctr">
                      <a:solidFill>
                        <a:srgbClr val="C9CED0"/>
                      </a:solidFill>
                      <a:prstDash val="solid"/>
                      <a:round/>
                      <a:headEnd type="none" w="med" len="med"/>
                      <a:tailEnd type="none" w="med" len="med"/>
                    </a:lnB>
                    <a:solidFill>
                      <a:srgbClr val="ECEEEC"/>
                    </a:solidFill>
                  </a:tcPr>
                </a:tc>
                <a:tc>
                  <a:txBody>
                    <a:bodyPr/>
                    <a:lstStyle/>
                    <a:p>
                      <a:pPr marL="0" indent="0" algn="ctr">
                        <a:buNone/>
                      </a:pPr>
                      <a:r>
                        <a:rPr lang="en-US" sz="1400" b="1" dirty="0">
                          <a:solidFill>
                            <a:srgbClr val="3F6F78"/>
                          </a:solidFill>
                        </a:rPr>
                        <a:t>ROC-AUC</a:t>
                      </a:r>
                      <a:endParaRPr lang="en-US" sz="1400" dirty="0"/>
                    </a:p>
                  </a:txBody>
                  <a:tcPr marT="36576" marB="36576" anchor="ctr">
                    <a:lnL w="0" cap="flat" cmpd="sng" algn="ctr">
                      <a:noFill/>
                    </a:lnL>
                    <a:lnR w="0" cap="flat" cmpd="sng" algn="ctr">
                      <a:noFill/>
                    </a:lnR>
                    <a:lnT w="0" cap="flat" cmpd="sng" algn="ctr">
                      <a:noFill/>
                    </a:lnT>
                    <a:lnB w="9525" cap="flat" cmpd="sng" algn="ctr">
                      <a:solidFill>
                        <a:srgbClr val="C9CED0"/>
                      </a:solidFill>
                      <a:prstDash val="solid"/>
                      <a:round/>
                      <a:headEnd type="none" w="med" len="med"/>
                      <a:tailEnd type="none" w="med" len="med"/>
                    </a:lnB>
                    <a:solidFill>
                      <a:srgbClr val="ECEEEC"/>
                    </a:solidFill>
                  </a:tcPr>
                </a:tc>
                <a:extLst>
                  <a:ext uri="{0D108BD9-81ED-4DB2-BD59-A6C34878D82A}">
                    <a16:rowId xmlns:a16="http://schemas.microsoft.com/office/drawing/2014/main" val="10000"/>
                  </a:ext>
                </a:extLst>
              </a:tr>
              <a:tr h="685800">
                <a:tc>
                  <a:txBody>
                    <a:bodyPr/>
                    <a:lstStyle/>
                    <a:p>
                      <a:pPr marL="0" indent="0">
                        <a:buNone/>
                      </a:pPr>
                      <a:r>
                        <a:rPr lang="en-US" sz="1400" b="1" dirty="0">
                          <a:solidFill>
                            <a:srgbClr val="2B2F33"/>
                          </a:solidFill>
                        </a:rPr>
                        <a:t>HistGradientBoosting</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buNone/>
                      </a:pPr>
                      <a:r>
                        <a:rPr lang="en-US" sz="1400" b="1" dirty="0">
                          <a:solidFill>
                            <a:srgbClr val="2B2F33"/>
                          </a:solidFill>
                        </a:rPr>
                        <a:t>0.9311</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solidFill>
                      <a:srgbClr val="DCE6E7"/>
                    </a:solidFill>
                  </a:tcPr>
                </a:tc>
                <a:tc>
                  <a:txBody>
                    <a:bodyPr/>
                    <a:lstStyle/>
                    <a:p>
                      <a:pPr marL="0" indent="0">
                        <a:buNone/>
                      </a:pPr>
                      <a:r>
                        <a:rPr lang="en-US" sz="1400" b="1" dirty="0">
                          <a:solidFill>
                            <a:srgbClr val="2B2F33"/>
                          </a:solidFill>
                        </a:rPr>
                        <a:t>0.9384</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solidFill>
                      <a:srgbClr val="DCE6E7"/>
                    </a:solidFill>
                  </a:tcPr>
                </a:tc>
                <a:tc>
                  <a:txBody>
                    <a:bodyPr/>
                    <a:lstStyle/>
                    <a:p>
                      <a:pPr marL="0" indent="0">
                        <a:buNone/>
                      </a:pPr>
                      <a:r>
                        <a:rPr lang="en-US" sz="1400" b="1" dirty="0">
                          <a:solidFill>
                            <a:srgbClr val="2B2F33"/>
                          </a:solidFill>
                        </a:rPr>
                        <a:t>0.8850</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solidFill>
                      <a:srgbClr val="DCE6E7"/>
                    </a:solidFill>
                  </a:tcPr>
                </a:tc>
                <a:tc>
                  <a:txBody>
                    <a:bodyPr/>
                    <a:lstStyle/>
                    <a:p>
                      <a:pPr marL="0" indent="0" algn="ctr">
                        <a:buNone/>
                      </a:pPr>
                      <a:r>
                        <a:rPr lang="en-US" sz="1400" dirty="0">
                          <a:solidFill>
                            <a:srgbClr val="2B2F33"/>
                          </a:solidFill>
                        </a:rPr>
                        <a:t>0.9646</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extLst>
                  <a:ext uri="{0D108BD9-81ED-4DB2-BD59-A6C34878D82A}">
                    <a16:rowId xmlns:a16="http://schemas.microsoft.com/office/drawing/2014/main" val="10001"/>
                  </a:ext>
                </a:extLst>
              </a:tr>
              <a:tr h="685800">
                <a:tc>
                  <a:txBody>
                    <a:bodyPr/>
                    <a:lstStyle/>
                    <a:p>
                      <a:pPr marL="0" indent="0">
                        <a:buNone/>
                      </a:pPr>
                      <a:r>
                        <a:rPr lang="en-US" sz="1400" b="1" dirty="0">
                          <a:solidFill>
                            <a:srgbClr val="2B2F33"/>
                          </a:solidFill>
                        </a:rPr>
                        <a:t>Random Forest</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lgn="ctr">
                        <a:buNone/>
                      </a:pPr>
                      <a:r>
                        <a:rPr lang="en-US" sz="1400" dirty="0">
                          <a:solidFill>
                            <a:srgbClr val="2B2F33"/>
                          </a:solidFill>
                        </a:rPr>
                        <a:t>0.8897</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lgn="ctr">
                        <a:buNone/>
                      </a:pPr>
                      <a:r>
                        <a:rPr lang="en-US" sz="1400" dirty="0">
                          <a:solidFill>
                            <a:srgbClr val="2B2F33"/>
                          </a:solidFill>
                        </a:rPr>
                        <a:t>0.9045</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lgn="ctr">
                        <a:buNone/>
                      </a:pPr>
                      <a:r>
                        <a:rPr lang="en-US" sz="1400" dirty="0">
                          <a:solidFill>
                            <a:srgbClr val="2B2F33"/>
                          </a:solidFill>
                        </a:rPr>
                        <a:t>0.7998</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buNone/>
                      </a:pPr>
                      <a:r>
                        <a:rPr lang="en-US" sz="1400" b="1" dirty="0">
                          <a:solidFill>
                            <a:srgbClr val="2B2F33"/>
                          </a:solidFill>
                        </a:rPr>
                        <a:t>0.9739</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solidFill>
                      <a:srgbClr val="DCE6E7"/>
                    </a:solidFill>
                  </a:tcPr>
                </a:tc>
                <a:extLst>
                  <a:ext uri="{0D108BD9-81ED-4DB2-BD59-A6C34878D82A}">
                    <a16:rowId xmlns:a16="http://schemas.microsoft.com/office/drawing/2014/main" val="10002"/>
                  </a:ext>
                </a:extLst>
              </a:tr>
              <a:tr h="685800">
                <a:tc>
                  <a:txBody>
                    <a:bodyPr/>
                    <a:lstStyle/>
                    <a:p>
                      <a:pPr marL="0" indent="0">
                        <a:buNone/>
                      </a:pPr>
                      <a:r>
                        <a:rPr lang="en-US" sz="1400" b="1" dirty="0">
                          <a:solidFill>
                            <a:srgbClr val="2B2F33"/>
                          </a:solidFill>
                        </a:rPr>
                        <a:t>Logistic Regression</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lgn="ctr">
                        <a:buNone/>
                      </a:pPr>
                      <a:r>
                        <a:rPr lang="en-US" sz="1400" dirty="0">
                          <a:solidFill>
                            <a:srgbClr val="2B2F33"/>
                          </a:solidFill>
                        </a:rPr>
                        <a:t>0.8503</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lgn="ctr">
                        <a:buNone/>
                      </a:pPr>
                      <a:r>
                        <a:rPr lang="en-US" sz="1400" dirty="0">
                          <a:solidFill>
                            <a:srgbClr val="2B2F33"/>
                          </a:solidFill>
                        </a:rPr>
                        <a:t>0.8402</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lgn="ctr">
                        <a:buNone/>
                      </a:pPr>
                      <a:r>
                        <a:rPr lang="en-US" sz="1400" dirty="0">
                          <a:solidFill>
                            <a:srgbClr val="2B2F33"/>
                          </a:solidFill>
                        </a:rPr>
                        <a:t>0.8496</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lgn="ctr">
                        <a:buNone/>
                      </a:pPr>
                      <a:r>
                        <a:rPr lang="en-US" sz="1400" dirty="0">
                          <a:solidFill>
                            <a:srgbClr val="2B2F33"/>
                          </a:solidFill>
                        </a:rPr>
                        <a:t>0.9138</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 1"/>
          <p:cNvSpPr txBox="1"/>
          <p:nvPr/>
        </p:nvSpPr>
        <p:spPr>
          <a:xfrm>
            <a:off x="640080" y="4617720"/>
            <a:ext cx="7315200" cy="548640"/>
          </a:xfrm>
          <a:prstGeom prst="rect">
            <a:avLst/>
          </a:prstGeom>
          <a:noFill/>
          <a:ln/>
        </p:spPr>
        <p:txBody>
          <a:bodyPr wrap="square" lIns="0" tIns="0" rIns="0" bIns="0" rtlCol="0" anchor="t"/>
          <a:lstStyle/>
          <a:p>
            <a:pPr marL="0" indent="0">
              <a:buNone/>
            </a:pPr>
            <a:endParaRPr lang="en-US" sz="1200" dirty="0"/>
          </a:p>
        </p:txBody>
      </p:sp>
      <p:sp>
        <p:nvSpPr>
          <p:cNvPr id="25" name="Slide Number Placeholder 0"/>
          <p:cNvSpPr>
            <a:spLocks noGrp="1"/>
          </p:cNvSpPr>
          <p:nvPr>
            <p:ph type="sldNum" sz="quarter" idx="4294967295"/>
          </p:nvPr>
        </p:nvSpPr>
        <p:spPr>
          <a:xfrm>
            <a:off x="10634472" y="642823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908792" cy="822960"/>
          </a:xfrm>
          <a:prstGeom prst="rect">
            <a:avLst/>
          </a:prstGeom>
          <a:noFill/>
          <a:ln/>
        </p:spPr>
        <p:txBody>
          <a:bodyPr wrap="square" lIns="0" tIns="0" rIns="0" bIns="0" rtlCol="0" anchor="ctr"/>
          <a:lstStyle/>
          <a:p>
            <a:pPr marL="0" indent="0">
              <a:buNone/>
            </a:pPr>
            <a:r>
              <a:rPr lang="en-US" sz="3400" b="1" dirty="0">
                <a:solidFill>
                  <a:schemeClr val="tx1"/>
                </a:solidFill>
              </a:rPr>
              <a:t>Results: QoL_Stress and Synthetic Data</a:t>
            </a:r>
            <a:endParaRPr lang="en-US" sz="3400" dirty="0"/>
          </a:p>
        </p:txBody>
      </p:sp>
      <p:sp>
        <p:nvSpPr>
          <p:cNvPr id="3" name="Text 1"/>
          <p:cNvSpPr txBox="1"/>
          <p:nvPr/>
        </p:nvSpPr>
        <p:spPr>
          <a:xfrm>
            <a:off x="640080" y="1371600"/>
            <a:ext cx="5120640" cy="320040"/>
          </a:xfrm>
          <a:prstGeom prst="rect">
            <a:avLst/>
          </a:prstGeom>
          <a:noFill/>
          <a:ln/>
        </p:spPr>
        <p:txBody>
          <a:bodyPr wrap="square" lIns="0" tIns="0" rIns="0" bIns="0" rtlCol="0" anchor="t"/>
          <a:lstStyle/>
          <a:p>
            <a:pPr marL="0" indent="0">
              <a:buNone/>
            </a:pPr>
            <a:r>
              <a:rPr lang="en-US" sz="1600" b="1" dirty="0">
                <a:solidFill>
                  <a:schemeClr val="accent1"/>
                </a:solidFill>
              </a:rPr>
              <a:t>QoL_Stress — real data</a:t>
            </a:r>
            <a:endParaRPr lang="en-US" sz="1600" dirty="0"/>
          </a:p>
        </p:txBody>
      </p:sp>
      <p:sp>
        <p:nvSpPr>
          <p:cNvPr id="4" name="Text 2"/>
          <p:cNvSpPr txBox="1"/>
          <p:nvPr/>
        </p:nvSpPr>
        <p:spPr>
          <a:xfrm>
            <a:off x="6428232" y="1371600"/>
            <a:ext cx="5120640" cy="320040"/>
          </a:xfrm>
          <a:prstGeom prst="rect">
            <a:avLst/>
          </a:prstGeom>
          <a:noFill/>
          <a:ln/>
        </p:spPr>
        <p:txBody>
          <a:bodyPr wrap="square" lIns="0" tIns="0" rIns="0" bIns="0" rtlCol="0" anchor="t"/>
          <a:lstStyle/>
          <a:p>
            <a:pPr marL="0" indent="0">
              <a:buNone/>
            </a:pPr>
            <a:r>
              <a:rPr lang="en-US" sz="1600" b="1" dirty="0">
                <a:solidFill>
                  <a:schemeClr val="accent1"/>
                </a:solidFill>
              </a:rPr>
              <a:t>Synthetic data — simulated</a:t>
            </a:r>
            <a:endParaRPr lang="en-US" sz="1600" dirty="0"/>
          </a:p>
        </p:txBody>
      </p:sp>
      <p:graphicFrame>
        <p:nvGraphicFramePr>
          <p:cNvPr id="12" name="QoL results table"/>
          <p:cNvGraphicFramePr>
            <a:graphicFrameLocks noGrp="1"/>
          </p:cNvGraphicFramePr>
          <p:nvPr>
            <p:extLst>
              <p:ext uri="{D42A27DB-BD31-4B8C-83A1-F6EECF244321}">
                <p14:modId xmlns:p14="http://schemas.microsoft.com/office/powerpoint/2010/main" val="1579011935"/>
              </p:ext>
            </p:extLst>
          </p:nvPr>
        </p:nvGraphicFramePr>
        <p:xfrm>
          <a:off x="640080" y="1737360"/>
          <a:ext cx="5120640" cy="1920240"/>
        </p:xfrm>
        <a:graphic>
          <a:graphicData uri="http://schemas.openxmlformats.org/drawingml/2006/table">
            <a:tbl>
              <a:tblPr/>
              <a:tblGrid>
                <a:gridCol w="21488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685800">
                <a:tc>
                  <a:txBody>
                    <a:bodyPr/>
                    <a:lstStyle/>
                    <a:p>
                      <a:pPr marL="0" indent="0" algn="l">
                        <a:buNone/>
                      </a:pPr>
                      <a:r>
                        <a:rPr lang="en-US" sz="1400" b="1" dirty="0">
                          <a:solidFill>
                            <a:srgbClr val="3F6F78"/>
                          </a:solidFill>
                        </a:rPr>
                        <a:t>Model</a:t>
                      </a:r>
                      <a:endParaRPr lang="en-US" sz="1400" dirty="0"/>
                    </a:p>
                  </a:txBody>
                  <a:tcPr marT="36576" marB="36576" anchor="ctr">
                    <a:lnL w="0" cap="flat" cmpd="sng" algn="ctr">
                      <a:noFill/>
                    </a:lnL>
                    <a:lnR w="0" cap="flat" cmpd="sng" algn="ctr">
                      <a:noFill/>
                    </a:lnR>
                    <a:lnT w="0" cap="flat" cmpd="sng" algn="ctr">
                      <a:noFill/>
                    </a:lnT>
                    <a:lnB w="9525" cap="flat" cmpd="sng" algn="ctr">
                      <a:solidFill>
                        <a:srgbClr val="C9CED0"/>
                      </a:solidFill>
                      <a:prstDash val="solid"/>
                      <a:round/>
                      <a:headEnd type="none" w="med" len="med"/>
                      <a:tailEnd type="none" w="med" len="med"/>
                    </a:lnB>
                    <a:solidFill>
                      <a:srgbClr val="ECEEEC"/>
                    </a:solidFill>
                  </a:tcPr>
                </a:tc>
                <a:tc>
                  <a:txBody>
                    <a:bodyPr/>
                    <a:lstStyle/>
                    <a:p>
                      <a:pPr marL="0" indent="0" algn="ctr">
                        <a:buNone/>
                      </a:pPr>
                      <a:r>
                        <a:rPr lang="en-US" sz="1400" b="1" dirty="0">
                          <a:solidFill>
                            <a:srgbClr val="3F6F78"/>
                          </a:solidFill>
                        </a:rPr>
                        <a:t>Balanced accuracy</a:t>
                      </a:r>
                      <a:endParaRPr lang="en-US" sz="1400" dirty="0"/>
                    </a:p>
                  </a:txBody>
                  <a:tcPr marT="36576" marB="36576" anchor="ctr">
                    <a:lnL w="0" cap="flat" cmpd="sng" algn="ctr">
                      <a:noFill/>
                    </a:lnL>
                    <a:lnR w="0" cap="flat" cmpd="sng" algn="ctr">
                      <a:noFill/>
                    </a:lnR>
                    <a:lnT w="0" cap="flat" cmpd="sng" algn="ctr">
                      <a:noFill/>
                    </a:lnT>
                    <a:lnB w="9525" cap="flat" cmpd="sng" algn="ctr">
                      <a:solidFill>
                        <a:srgbClr val="C9CED0"/>
                      </a:solidFill>
                      <a:prstDash val="solid"/>
                      <a:round/>
                      <a:headEnd type="none" w="med" len="med"/>
                      <a:tailEnd type="none" w="med" len="med"/>
                    </a:lnB>
                    <a:solidFill>
                      <a:srgbClr val="ECEEEC"/>
                    </a:solidFill>
                  </a:tcPr>
                </a:tc>
                <a:tc>
                  <a:txBody>
                    <a:bodyPr/>
                    <a:lstStyle/>
                    <a:p>
                      <a:pPr marL="0" indent="0" algn="ctr">
                        <a:buNone/>
                      </a:pPr>
                      <a:r>
                        <a:rPr lang="en-US" sz="1400" b="1" dirty="0">
                          <a:solidFill>
                            <a:srgbClr val="3F6F78"/>
                          </a:solidFill>
                        </a:rPr>
                        <a:t>Macro F1</a:t>
                      </a:r>
                      <a:endParaRPr lang="en-US" sz="1400" dirty="0"/>
                    </a:p>
                  </a:txBody>
                  <a:tcPr marT="36576" marB="36576" anchor="ctr">
                    <a:lnL w="0" cap="flat" cmpd="sng" algn="ctr">
                      <a:noFill/>
                    </a:lnL>
                    <a:lnR w="0" cap="flat" cmpd="sng" algn="ctr">
                      <a:noFill/>
                    </a:lnR>
                    <a:lnT w="0" cap="flat" cmpd="sng" algn="ctr">
                      <a:noFill/>
                    </a:lnT>
                    <a:lnB w="9525" cap="flat" cmpd="sng" algn="ctr">
                      <a:solidFill>
                        <a:srgbClr val="C9CED0"/>
                      </a:solidFill>
                      <a:prstDash val="solid"/>
                      <a:round/>
                      <a:headEnd type="none" w="med" len="med"/>
                      <a:tailEnd type="none" w="med" len="med"/>
                    </a:lnB>
                    <a:solidFill>
                      <a:srgbClr val="ECEEEC"/>
                    </a:solidFill>
                  </a:tcPr>
                </a:tc>
                <a:tc>
                  <a:txBody>
                    <a:bodyPr/>
                    <a:lstStyle/>
                    <a:p>
                      <a:pPr marL="0" indent="0" algn="ctr">
                        <a:buNone/>
                      </a:pPr>
                      <a:r>
                        <a:rPr lang="en-US" sz="1400" b="1" dirty="0">
                          <a:solidFill>
                            <a:srgbClr val="3F6F78"/>
                          </a:solidFill>
                        </a:rPr>
                        <a:t>ROC-AUC</a:t>
                      </a:r>
                      <a:endParaRPr lang="en-US" sz="1400" dirty="0"/>
                    </a:p>
                  </a:txBody>
                  <a:tcPr marT="36576" marB="36576" anchor="ctr">
                    <a:lnL w="0" cap="flat" cmpd="sng" algn="ctr">
                      <a:noFill/>
                    </a:lnL>
                    <a:lnR w="0" cap="flat" cmpd="sng" algn="ctr">
                      <a:noFill/>
                    </a:lnR>
                    <a:lnT w="0" cap="flat" cmpd="sng" algn="ctr">
                      <a:noFill/>
                    </a:lnT>
                    <a:lnB w="9525" cap="flat" cmpd="sng" algn="ctr">
                      <a:solidFill>
                        <a:srgbClr val="C9CED0"/>
                      </a:solidFill>
                      <a:prstDash val="solid"/>
                      <a:round/>
                      <a:headEnd type="none" w="med" len="med"/>
                      <a:tailEnd type="none" w="med" len="med"/>
                    </a:lnB>
                    <a:solidFill>
                      <a:srgbClr val="ECEEEC"/>
                    </a:solidFill>
                  </a:tcPr>
                </a:tc>
                <a:extLst>
                  <a:ext uri="{0D108BD9-81ED-4DB2-BD59-A6C34878D82A}">
                    <a16:rowId xmlns:a16="http://schemas.microsoft.com/office/drawing/2014/main" val="10000"/>
                  </a:ext>
                </a:extLst>
              </a:tr>
              <a:tr h="411480">
                <a:tc>
                  <a:txBody>
                    <a:bodyPr/>
                    <a:lstStyle/>
                    <a:p>
                      <a:pPr marL="0" indent="0">
                        <a:buNone/>
                      </a:pPr>
                      <a:r>
                        <a:rPr lang="en-US" sz="1400" b="1" dirty="0">
                          <a:solidFill>
                            <a:srgbClr val="2B2F33"/>
                          </a:solidFill>
                        </a:rPr>
                        <a:t>Logistic Regression</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buNone/>
                      </a:pPr>
                      <a:r>
                        <a:rPr lang="en-US" sz="1400" b="1" dirty="0">
                          <a:solidFill>
                            <a:srgbClr val="2B2F33"/>
                          </a:solidFill>
                        </a:rPr>
                        <a:t>0.6203</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solidFill>
                      <a:srgbClr val="DCE6E7"/>
                    </a:solidFill>
                  </a:tcPr>
                </a:tc>
                <a:tc>
                  <a:txBody>
                    <a:bodyPr/>
                    <a:lstStyle/>
                    <a:p>
                      <a:pPr marL="0" indent="0">
                        <a:buNone/>
                      </a:pPr>
                      <a:r>
                        <a:rPr lang="en-US" sz="1400" b="1" dirty="0">
                          <a:solidFill>
                            <a:srgbClr val="2B2F33"/>
                          </a:solidFill>
                        </a:rPr>
                        <a:t>0.6204</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solidFill>
                      <a:srgbClr val="DCE6E7"/>
                    </a:solidFill>
                  </a:tcPr>
                </a:tc>
                <a:tc>
                  <a:txBody>
                    <a:bodyPr/>
                    <a:lstStyle/>
                    <a:p>
                      <a:pPr marL="0" indent="0">
                        <a:buNone/>
                      </a:pPr>
                      <a:r>
                        <a:rPr lang="en-US" sz="1400" b="1" dirty="0">
                          <a:solidFill>
                            <a:srgbClr val="2B2F33"/>
                          </a:solidFill>
                        </a:rPr>
                        <a:t>0.6625</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solidFill>
                      <a:srgbClr val="DCE6E7"/>
                    </a:solidFill>
                  </a:tcPr>
                </a:tc>
                <a:extLst>
                  <a:ext uri="{0D108BD9-81ED-4DB2-BD59-A6C34878D82A}">
                    <a16:rowId xmlns:a16="http://schemas.microsoft.com/office/drawing/2014/main" val="10001"/>
                  </a:ext>
                </a:extLst>
              </a:tr>
              <a:tr h="411480">
                <a:tc>
                  <a:txBody>
                    <a:bodyPr/>
                    <a:lstStyle/>
                    <a:p>
                      <a:pPr marL="0" indent="0">
                        <a:buNone/>
                      </a:pPr>
                      <a:r>
                        <a:rPr lang="en-US" sz="1400" b="1" dirty="0">
                          <a:solidFill>
                            <a:srgbClr val="2B2F33"/>
                          </a:solidFill>
                        </a:rPr>
                        <a:t>Random Forest</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lgn="ctr">
                        <a:buNone/>
                      </a:pPr>
                      <a:r>
                        <a:rPr lang="en-US" sz="1400" dirty="0">
                          <a:solidFill>
                            <a:srgbClr val="2B2F33"/>
                          </a:solidFill>
                        </a:rPr>
                        <a:t>0.5464</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lgn="ctr">
                        <a:buNone/>
                      </a:pPr>
                      <a:r>
                        <a:rPr lang="en-US" sz="1400" dirty="0">
                          <a:solidFill>
                            <a:srgbClr val="2B2F33"/>
                          </a:solidFill>
                        </a:rPr>
                        <a:t>0.5454</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lgn="ctr">
                        <a:buNone/>
                      </a:pPr>
                      <a:r>
                        <a:rPr lang="en-US" sz="1400" dirty="0">
                          <a:solidFill>
                            <a:srgbClr val="2B2F33"/>
                          </a:solidFill>
                        </a:rPr>
                        <a:t>0.6204</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400" b="1" dirty="0">
                          <a:solidFill>
                            <a:srgbClr val="2B2F33"/>
                          </a:solidFill>
                        </a:rPr>
                        <a:t>HistGradientBoosting</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lgn="ctr">
                        <a:buNone/>
                      </a:pPr>
                      <a:r>
                        <a:rPr lang="en-US" sz="1400" dirty="0">
                          <a:solidFill>
                            <a:srgbClr val="2B2F33"/>
                          </a:solidFill>
                        </a:rPr>
                        <a:t>0.4917</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lgn="ctr">
                        <a:buNone/>
                      </a:pPr>
                      <a:r>
                        <a:rPr lang="en-US" sz="1400" dirty="0">
                          <a:solidFill>
                            <a:srgbClr val="2B2F33"/>
                          </a:solidFill>
                        </a:rPr>
                        <a:t>0.4916</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lgn="ctr">
                        <a:buNone/>
                      </a:pPr>
                      <a:r>
                        <a:rPr lang="en-US" sz="1400" dirty="0">
                          <a:solidFill>
                            <a:srgbClr val="2B2F33"/>
                          </a:solidFill>
                        </a:rPr>
                        <a:t>0.4958</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23" name="Synthetic results table"/>
          <p:cNvGraphicFramePr>
            <a:graphicFrameLocks noGrp="1"/>
          </p:cNvGraphicFramePr>
          <p:nvPr>
            <p:extLst>
              <p:ext uri="{D42A27DB-BD31-4B8C-83A1-F6EECF244321}">
                <p14:modId xmlns:p14="http://schemas.microsoft.com/office/powerpoint/2010/main" val="1579011935"/>
              </p:ext>
            </p:extLst>
          </p:nvPr>
        </p:nvGraphicFramePr>
        <p:xfrm>
          <a:off x="6428232" y="1737360"/>
          <a:ext cx="5120640" cy="1920240"/>
        </p:xfrm>
        <a:graphic>
          <a:graphicData uri="http://schemas.openxmlformats.org/drawingml/2006/table">
            <a:tbl>
              <a:tblPr/>
              <a:tblGrid>
                <a:gridCol w="21488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685800">
                <a:tc>
                  <a:txBody>
                    <a:bodyPr/>
                    <a:lstStyle/>
                    <a:p>
                      <a:pPr marL="0" indent="0" algn="l">
                        <a:buNone/>
                      </a:pPr>
                      <a:r>
                        <a:rPr lang="en-US" sz="1400" b="1" dirty="0">
                          <a:solidFill>
                            <a:srgbClr val="3F6F78"/>
                          </a:solidFill>
                        </a:rPr>
                        <a:t>Model</a:t>
                      </a:r>
                      <a:endParaRPr lang="en-US" sz="1400" dirty="0"/>
                    </a:p>
                  </a:txBody>
                  <a:tcPr marT="36576" marB="36576" anchor="ctr">
                    <a:lnL w="0" cap="flat" cmpd="sng" algn="ctr">
                      <a:noFill/>
                    </a:lnL>
                    <a:lnR w="0" cap="flat" cmpd="sng" algn="ctr">
                      <a:noFill/>
                    </a:lnR>
                    <a:lnT w="0" cap="flat" cmpd="sng" algn="ctr">
                      <a:noFill/>
                    </a:lnT>
                    <a:lnB w="9525" cap="flat" cmpd="sng" algn="ctr">
                      <a:solidFill>
                        <a:srgbClr val="C9CED0"/>
                      </a:solidFill>
                      <a:prstDash val="solid"/>
                      <a:round/>
                      <a:headEnd type="none" w="med" len="med"/>
                      <a:tailEnd type="none" w="med" len="med"/>
                    </a:lnB>
                    <a:solidFill>
                      <a:srgbClr val="ECEEEC"/>
                    </a:solidFill>
                  </a:tcPr>
                </a:tc>
                <a:tc>
                  <a:txBody>
                    <a:bodyPr/>
                    <a:lstStyle/>
                    <a:p>
                      <a:pPr marL="0" indent="0" algn="ctr">
                        <a:buNone/>
                      </a:pPr>
                      <a:r>
                        <a:rPr lang="en-US" sz="1400" b="1" dirty="0">
                          <a:solidFill>
                            <a:srgbClr val="3F6F78"/>
                          </a:solidFill>
                        </a:rPr>
                        <a:t>Balanced accuracy</a:t>
                      </a:r>
                      <a:endParaRPr lang="en-US" sz="1400" dirty="0"/>
                    </a:p>
                  </a:txBody>
                  <a:tcPr marT="36576" marB="36576" anchor="ctr">
                    <a:lnL w="0" cap="flat" cmpd="sng" algn="ctr">
                      <a:noFill/>
                    </a:lnL>
                    <a:lnR w="0" cap="flat" cmpd="sng" algn="ctr">
                      <a:noFill/>
                    </a:lnR>
                    <a:lnT w="0" cap="flat" cmpd="sng" algn="ctr">
                      <a:noFill/>
                    </a:lnT>
                    <a:lnB w="9525" cap="flat" cmpd="sng" algn="ctr">
                      <a:solidFill>
                        <a:srgbClr val="C9CED0"/>
                      </a:solidFill>
                      <a:prstDash val="solid"/>
                      <a:round/>
                      <a:headEnd type="none" w="med" len="med"/>
                      <a:tailEnd type="none" w="med" len="med"/>
                    </a:lnB>
                    <a:solidFill>
                      <a:srgbClr val="ECEEEC"/>
                    </a:solidFill>
                  </a:tcPr>
                </a:tc>
                <a:tc>
                  <a:txBody>
                    <a:bodyPr/>
                    <a:lstStyle/>
                    <a:p>
                      <a:pPr marL="0" indent="0" algn="ctr">
                        <a:buNone/>
                      </a:pPr>
                      <a:r>
                        <a:rPr lang="en-US" sz="1400" b="1" dirty="0">
                          <a:solidFill>
                            <a:srgbClr val="3F6F78"/>
                          </a:solidFill>
                        </a:rPr>
                        <a:t>Macro F1</a:t>
                      </a:r>
                      <a:endParaRPr lang="en-US" sz="1400" dirty="0"/>
                    </a:p>
                  </a:txBody>
                  <a:tcPr marT="36576" marB="36576" anchor="ctr">
                    <a:lnL w="0" cap="flat" cmpd="sng" algn="ctr">
                      <a:noFill/>
                    </a:lnL>
                    <a:lnR w="0" cap="flat" cmpd="sng" algn="ctr">
                      <a:noFill/>
                    </a:lnR>
                    <a:lnT w="0" cap="flat" cmpd="sng" algn="ctr">
                      <a:noFill/>
                    </a:lnT>
                    <a:lnB w="9525" cap="flat" cmpd="sng" algn="ctr">
                      <a:solidFill>
                        <a:srgbClr val="C9CED0"/>
                      </a:solidFill>
                      <a:prstDash val="solid"/>
                      <a:round/>
                      <a:headEnd type="none" w="med" len="med"/>
                      <a:tailEnd type="none" w="med" len="med"/>
                    </a:lnB>
                    <a:solidFill>
                      <a:srgbClr val="ECEEEC"/>
                    </a:solidFill>
                  </a:tcPr>
                </a:tc>
                <a:tc>
                  <a:txBody>
                    <a:bodyPr/>
                    <a:lstStyle/>
                    <a:p>
                      <a:pPr marL="0" indent="0" algn="ctr">
                        <a:buNone/>
                      </a:pPr>
                      <a:r>
                        <a:rPr lang="en-US" sz="1400" b="1" dirty="0">
                          <a:solidFill>
                            <a:srgbClr val="3F6F78"/>
                          </a:solidFill>
                        </a:rPr>
                        <a:t>ROC-AUC</a:t>
                      </a:r>
                      <a:endParaRPr lang="en-US" sz="1400" dirty="0"/>
                    </a:p>
                  </a:txBody>
                  <a:tcPr marT="36576" marB="36576" anchor="ctr">
                    <a:lnL w="0" cap="flat" cmpd="sng" algn="ctr">
                      <a:noFill/>
                    </a:lnL>
                    <a:lnR w="0" cap="flat" cmpd="sng" algn="ctr">
                      <a:noFill/>
                    </a:lnR>
                    <a:lnT w="0" cap="flat" cmpd="sng" algn="ctr">
                      <a:noFill/>
                    </a:lnT>
                    <a:lnB w="9525" cap="flat" cmpd="sng" algn="ctr">
                      <a:solidFill>
                        <a:srgbClr val="C9CED0"/>
                      </a:solidFill>
                      <a:prstDash val="solid"/>
                      <a:round/>
                      <a:headEnd type="none" w="med" len="med"/>
                      <a:tailEnd type="none" w="med" len="med"/>
                    </a:lnB>
                    <a:solidFill>
                      <a:srgbClr val="ECEEEC"/>
                    </a:solidFill>
                  </a:tcPr>
                </a:tc>
                <a:extLst>
                  <a:ext uri="{0D108BD9-81ED-4DB2-BD59-A6C34878D82A}">
                    <a16:rowId xmlns:a16="http://schemas.microsoft.com/office/drawing/2014/main" val="10000"/>
                  </a:ext>
                </a:extLst>
              </a:tr>
              <a:tr h="411480">
                <a:tc>
                  <a:txBody>
                    <a:bodyPr/>
                    <a:lstStyle/>
                    <a:p>
                      <a:pPr marL="0" indent="0">
                        <a:buNone/>
                      </a:pPr>
                      <a:r>
                        <a:rPr lang="en-US" sz="1400" b="1" dirty="0">
                          <a:solidFill>
                            <a:srgbClr val="2B2F33"/>
                          </a:solidFill>
                        </a:rPr>
                        <a:t>Logistic Regression</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buNone/>
                      </a:pPr>
                      <a:r>
                        <a:rPr lang="en-US" sz="1400" b="1" dirty="0">
                          <a:solidFill>
                            <a:srgbClr val="2B2F33"/>
                          </a:solidFill>
                        </a:rPr>
                        <a:t>0.8964</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solidFill>
                      <a:srgbClr val="DCE6E7"/>
                    </a:solidFill>
                  </a:tcPr>
                </a:tc>
                <a:tc>
                  <a:txBody>
                    <a:bodyPr/>
                    <a:lstStyle/>
                    <a:p>
                      <a:pPr marL="0" indent="0">
                        <a:buNone/>
                      </a:pPr>
                      <a:r>
                        <a:rPr lang="en-US" sz="1400" b="1" dirty="0">
                          <a:solidFill>
                            <a:srgbClr val="2B2F33"/>
                          </a:solidFill>
                        </a:rPr>
                        <a:t>0.8964</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solidFill>
                      <a:srgbClr val="DCE6E7"/>
                    </a:solidFill>
                  </a:tcPr>
                </a:tc>
                <a:tc>
                  <a:txBody>
                    <a:bodyPr/>
                    <a:lstStyle/>
                    <a:p>
                      <a:pPr marL="0" indent="0">
                        <a:buNone/>
                      </a:pPr>
                      <a:r>
                        <a:rPr lang="en-US" sz="1400" b="1" dirty="0">
                          <a:solidFill>
                            <a:srgbClr val="2B2F33"/>
                          </a:solidFill>
                        </a:rPr>
                        <a:t>0.9583</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solidFill>
                      <a:srgbClr val="DCE6E7"/>
                    </a:solidFill>
                  </a:tcPr>
                </a:tc>
                <a:extLst>
                  <a:ext uri="{0D108BD9-81ED-4DB2-BD59-A6C34878D82A}">
                    <a16:rowId xmlns:a16="http://schemas.microsoft.com/office/drawing/2014/main" val="10001"/>
                  </a:ext>
                </a:extLst>
              </a:tr>
              <a:tr h="411480">
                <a:tc>
                  <a:txBody>
                    <a:bodyPr/>
                    <a:lstStyle/>
                    <a:p>
                      <a:pPr marL="0" indent="0">
                        <a:buNone/>
                      </a:pPr>
                      <a:r>
                        <a:rPr lang="en-US" sz="1400" b="1" dirty="0">
                          <a:solidFill>
                            <a:srgbClr val="2B2F33"/>
                          </a:solidFill>
                        </a:rPr>
                        <a:t>Random Forest</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lgn="ctr">
                        <a:buNone/>
                      </a:pPr>
                      <a:r>
                        <a:rPr lang="en-US" sz="1400" dirty="0">
                          <a:solidFill>
                            <a:srgbClr val="2B2F33"/>
                          </a:solidFill>
                        </a:rPr>
                        <a:t>0.8884</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lgn="ctr">
                        <a:buNone/>
                      </a:pPr>
                      <a:r>
                        <a:rPr lang="en-US" sz="1400" dirty="0">
                          <a:solidFill>
                            <a:srgbClr val="2B2F33"/>
                          </a:solidFill>
                        </a:rPr>
                        <a:t>0.8884</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lgn="ctr">
                        <a:buNone/>
                      </a:pPr>
                      <a:r>
                        <a:rPr lang="en-US" sz="1400" dirty="0">
                          <a:solidFill>
                            <a:srgbClr val="2B2F33"/>
                          </a:solidFill>
                        </a:rPr>
                        <a:t>0.9504</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400" b="1" dirty="0">
                          <a:solidFill>
                            <a:srgbClr val="2B2F33"/>
                          </a:solidFill>
                        </a:rPr>
                        <a:t>HistGradientBoosting</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lgn="ctr">
                        <a:buNone/>
                      </a:pPr>
                      <a:r>
                        <a:rPr lang="en-US" sz="1400" dirty="0">
                          <a:solidFill>
                            <a:srgbClr val="2B2F33"/>
                          </a:solidFill>
                        </a:rPr>
                        <a:t>0.8836</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lgn="ctr">
                        <a:buNone/>
                      </a:pPr>
                      <a:r>
                        <a:rPr lang="en-US" sz="1400" dirty="0">
                          <a:solidFill>
                            <a:srgbClr val="2B2F33"/>
                          </a:solidFill>
                        </a:rPr>
                        <a:t>0.8836</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tc>
                  <a:txBody>
                    <a:bodyPr/>
                    <a:lstStyle/>
                    <a:p>
                      <a:pPr marL="0" indent="0" algn="ctr">
                        <a:buNone/>
                      </a:pPr>
                      <a:r>
                        <a:rPr lang="en-US" sz="1400" dirty="0">
                          <a:solidFill>
                            <a:srgbClr val="2B2F33"/>
                          </a:solidFill>
                        </a:rPr>
                        <a:t>0.9471</a:t>
                      </a:r>
                      <a:endParaRPr lang="en-US" sz="1400" dirty="0"/>
                    </a:p>
                  </a:txBody>
                  <a:tcPr marT="36576" marB="36576" anchor="ctr">
                    <a:lnL w="0" cap="flat" cmpd="sng" algn="ctr">
                      <a:noFill/>
                    </a:lnL>
                    <a:lnR w="0" cap="flat" cmpd="sng" algn="ctr">
                      <a:noFill/>
                    </a:lnR>
                    <a:lnT w="9525" cap="flat" cmpd="sng" algn="ctr">
                      <a:solidFill>
                        <a:srgbClr val="C9CED0"/>
                      </a:solidFill>
                      <a:prstDash val="solid"/>
                      <a:round/>
                      <a:headEnd type="none" w="med" len="med"/>
                      <a:tailEnd type="none" w="med" len="med"/>
                    </a:lnT>
                    <a:lnB w="9525" cap="flat" cmpd="sng" algn="ctr">
                      <a:solidFill>
                        <a:srgbClr val="C9CED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0634472" y="642823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10" name="Limitations card">
            <a:extLst>
              <a:ext uri="{FF2B5EF4-FFF2-40B4-BE49-F238E27FC236}">
                <a16:creationId xmlns:a16="http://schemas.microsoft.com/office/drawing/2014/main" id="{D1862243-BE8E-3B3F-0B13-158D85B83376}"/>
              </a:ext>
            </a:extLst>
          </p:cNvPr>
          <p:cNvSpPr/>
          <p:nvPr/>
        </p:nvSpPr>
        <p:spPr>
          <a:xfrm>
            <a:off x="6286500" y="1473387"/>
            <a:ext cx="5349240" cy="2940518"/>
          </a:xfrm>
          <a:prstGeom prst="roundRect">
            <a:avLst>
              <a:gd name="adj" fmla="val 1684"/>
            </a:avLst>
          </a:prstGeom>
          <a:solidFill>
            <a:schemeClr val="bg2"/>
          </a:solidFill>
          <a:ln w="12700">
            <a:solidFill>
              <a:schemeClr val="bg2"/>
            </a:solidFill>
            <a:prstDash val="solid"/>
          </a:ln>
        </p:spPr>
      </p:sp>
      <p:sp>
        <p:nvSpPr>
          <p:cNvPr id="2" name="Text 0"/>
          <p:cNvSpPr>
            <a:spLocks noGrp="1"/>
          </p:cNvSpPr>
          <p:nvPr>
            <p:ph type="title" idx="100" hasCustomPrompt="1"/>
          </p:nvPr>
        </p:nvSpPr>
        <p:spPr>
          <a:xfrm>
            <a:off x="640080" y="365760"/>
            <a:ext cx="10908792" cy="822960"/>
          </a:xfrm>
          <a:prstGeom prst="rect">
            <a:avLst/>
          </a:prstGeom>
          <a:noFill/>
          <a:ln/>
        </p:spPr>
        <p:txBody>
          <a:bodyPr wrap="square" lIns="0" tIns="0" rIns="0" bIns="0" rtlCol="0" anchor="ctr"/>
          <a:lstStyle/>
          <a:p>
            <a:pPr marL="0" indent="0">
              <a:buNone/>
            </a:pPr>
            <a:r>
              <a:rPr lang="en-US" sz="3400" b="1" dirty="0">
                <a:solidFill>
                  <a:schemeClr val="tx1"/>
                </a:solidFill>
              </a:rPr>
              <a:t>Limitations and Conclusion</a:t>
            </a:r>
            <a:endParaRPr lang="en-US" sz="3400" dirty="0"/>
          </a:p>
        </p:txBody>
      </p:sp>
      <p:sp>
        <p:nvSpPr>
          <p:cNvPr id="3" name="Limitations card"/>
          <p:cNvSpPr/>
          <p:nvPr/>
        </p:nvSpPr>
        <p:spPr>
          <a:xfrm>
            <a:off x="640080" y="1463040"/>
            <a:ext cx="5349240" cy="2940518"/>
          </a:xfrm>
          <a:prstGeom prst="roundRect">
            <a:avLst>
              <a:gd name="adj" fmla="val 1684"/>
            </a:avLst>
          </a:prstGeom>
          <a:solidFill>
            <a:schemeClr val="bg2"/>
          </a:solidFill>
          <a:ln w="12700">
            <a:solidFill>
              <a:schemeClr val="bg2"/>
            </a:solidFill>
            <a:prstDash val="solid"/>
          </a:ln>
        </p:spPr>
      </p:sp>
      <p:sp>
        <p:nvSpPr>
          <p:cNvPr id="4" name="Text 2"/>
          <p:cNvSpPr txBox="1"/>
          <p:nvPr/>
        </p:nvSpPr>
        <p:spPr>
          <a:xfrm>
            <a:off x="868680" y="1645920"/>
            <a:ext cx="4846320" cy="365760"/>
          </a:xfrm>
          <a:prstGeom prst="rect">
            <a:avLst/>
          </a:prstGeom>
          <a:noFill/>
          <a:ln/>
        </p:spPr>
        <p:txBody>
          <a:bodyPr wrap="square" lIns="0" tIns="0" rIns="0" bIns="0" rtlCol="0" anchor="t"/>
          <a:lstStyle/>
          <a:p>
            <a:pPr marL="0" indent="0">
              <a:buNone/>
            </a:pPr>
            <a:r>
              <a:rPr lang="en-US" sz="2000" b="1" dirty="0">
                <a:solidFill>
                  <a:schemeClr val="accent1"/>
                </a:solidFill>
              </a:rPr>
              <a:t>Limitations</a:t>
            </a:r>
            <a:endParaRPr lang="en-US" sz="2000" dirty="0"/>
          </a:p>
        </p:txBody>
      </p:sp>
      <p:sp>
        <p:nvSpPr>
          <p:cNvPr id="5" name="Text 3"/>
          <p:cNvSpPr txBox="1"/>
          <p:nvPr/>
        </p:nvSpPr>
        <p:spPr>
          <a:xfrm>
            <a:off x="868680" y="2148840"/>
            <a:ext cx="4892040" cy="2254718"/>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1"/>
                </a:solidFill>
              </a:rPr>
              <a:t>Datasets differ in size, protocol, features and observation unit</a:t>
            </a:r>
            <a:endParaRPr lang="en-US" sz="1400" dirty="0"/>
          </a:p>
          <a:p>
            <a:pPr marL="342900" indent="-342900">
              <a:spcAft>
                <a:spcPts val="900"/>
              </a:spcAft>
              <a:buSzPct val="100000"/>
              <a:buChar char="•"/>
            </a:pPr>
            <a:r>
              <a:rPr lang="en-US" sz="1400" dirty="0">
                <a:solidFill>
                  <a:schemeClr val="tx1"/>
                </a:solidFill>
              </a:rPr>
              <a:t>QoL_Stress has relatively few sessions, limiting the precision of estimates</a:t>
            </a:r>
            <a:endParaRPr lang="en-US" sz="1400" dirty="0"/>
          </a:p>
          <a:p>
            <a:pPr marL="342900" indent="-342900">
              <a:spcAft>
                <a:spcPts val="900"/>
              </a:spcAft>
              <a:buSzPct val="100000"/>
              <a:buChar char="•"/>
            </a:pPr>
            <a:r>
              <a:rPr lang="en-US" sz="1400" dirty="0">
                <a:solidFill>
                  <a:schemeClr val="tx1"/>
                </a:solidFill>
              </a:rPr>
              <a:t>Some LOSO folds contain only one class, leaving certain fold-level metrics undefined</a:t>
            </a:r>
            <a:endParaRPr lang="en-US" sz="1400" dirty="0"/>
          </a:p>
          <a:p>
            <a:pPr marL="342900" indent="-342900">
              <a:spcAft>
                <a:spcPts val="900"/>
              </a:spcAft>
              <a:buSzPct val="100000"/>
              <a:buChar char="•"/>
            </a:pPr>
            <a:r>
              <a:rPr lang="en-US" sz="1400" dirty="0">
                <a:solidFill>
                  <a:schemeClr val="tx1"/>
                </a:solidFill>
              </a:rPr>
              <a:t>Synthetic data cannot substitute for real-world validation</a:t>
            </a:r>
            <a:endParaRPr lang="en-US" sz="1400" dirty="0"/>
          </a:p>
          <a:p>
            <a:pPr marL="342900" indent="-342900">
              <a:spcAft>
                <a:spcPts val="900"/>
              </a:spcAft>
              <a:buSzPct val="100000"/>
              <a:buChar char="•"/>
            </a:pPr>
            <a:r>
              <a:rPr lang="en-US" sz="1400" dirty="0">
                <a:solidFill>
                  <a:schemeClr val="tx1"/>
                </a:solidFill>
              </a:rPr>
              <a:t>The experiments do not establish clinical readiness or universal generalisation</a:t>
            </a:r>
            <a:endParaRPr lang="en-US" sz="1400" dirty="0"/>
          </a:p>
        </p:txBody>
      </p:sp>
      <p:sp>
        <p:nvSpPr>
          <p:cNvPr id="6" name="Text 4"/>
          <p:cNvSpPr txBox="1"/>
          <p:nvPr/>
        </p:nvSpPr>
        <p:spPr>
          <a:xfrm>
            <a:off x="6400800" y="1645920"/>
            <a:ext cx="5120640" cy="365760"/>
          </a:xfrm>
          <a:prstGeom prst="rect">
            <a:avLst/>
          </a:prstGeom>
          <a:noFill/>
          <a:ln/>
        </p:spPr>
        <p:txBody>
          <a:bodyPr wrap="square" lIns="0" tIns="0" rIns="0" bIns="0" rtlCol="0" anchor="t"/>
          <a:lstStyle/>
          <a:p>
            <a:pPr marL="0" indent="0">
              <a:buNone/>
            </a:pPr>
            <a:r>
              <a:rPr lang="en-US" sz="2000" b="1" dirty="0">
                <a:solidFill>
                  <a:schemeClr val="accent1"/>
                </a:solidFill>
              </a:rPr>
              <a:t>Conclusion</a:t>
            </a:r>
            <a:endParaRPr lang="en-US" sz="2000" dirty="0"/>
          </a:p>
        </p:txBody>
      </p:sp>
      <p:sp>
        <p:nvSpPr>
          <p:cNvPr id="7" name="Text 5"/>
          <p:cNvSpPr txBox="1"/>
          <p:nvPr/>
        </p:nvSpPr>
        <p:spPr>
          <a:xfrm>
            <a:off x="6400800" y="2148840"/>
            <a:ext cx="5148072" cy="356616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1"/>
                </a:solidFill>
              </a:rPr>
              <a:t>Physiological signals contain patterns that can help distinguish stress from baseline or relaxation in some datasets</a:t>
            </a:r>
            <a:endParaRPr lang="en-US" sz="1400" dirty="0"/>
          </a:p>
          <a:p>
            <a:pPr marL="342900" indent="-342900">
              <a:spcAft>
                <a:spcPts val="900"/>
              </a:spcAft>
              <a:buSzPct val="100000"/>
              <a:buChar char="•"/>
            </a:pPr>
            <a:r>
              <a:rPr lang="en-US" sz="1400" dirty="0">
                <a:solidFill>
                  <a:schemeClr val="tx1"/>
                </a:solidFill>
              </a:rPr>
              <a:t>Model performance varied across datasets</a:t>
            </a:r>
            <a:endParaRPr lang="en-US" sz="1400" dirty="0"/>
          </a:p>
          <a:p>
            <a:pPr marL="342900" indent="-342900">
              <a:spcAft>
                <a:spcPts val="900"/>
              </a:spcAft>
              <a:buSzPct val="100000"/>
              <a:buChar char="•"/>
            </a:pPr>
            <a:r>
              <a:rPr lang="en-US" sz="1400" dirty="0">
                <a:solidFill>
                  <a:schemeClr val="tx1"/>
                </a:solidFill>
              </a:rPr>
              <a:t>Participant-level evaluation and leakage prevention give a more realistic estimate of generalisation</a:t>
            </a:r>
            <a:endParaRPr lang="en-US" sz="1400" dirty="0"/>
          </a:p>
          <a:p>
            <a:pPr marL="342900" indent="-342900">
              <a:spcAft>
                <a:spcPts val="900"/>
              </a:spcAft>
              <a:buSzPct val="100000"/>
              <a:buChar char="•"/>
            </a:pPr>
            <a:r>
              <a:rPr lang="en-US" sz="1400" dirty="0">
                <a:solidFill>
                  <a:schemeClr val="tx1"/>
                </a:solidFill>
              </a:rPr>
              <a:t>Larger, diverse, independently collected datasets are needed</a:t>
            </a:r>
            <a:endParaRPr lang="en-US" sz="1400" dirty="0"/>
          </a:p>
        </p:txBody>
      </p:sp>
      <p:sp>
        <p:nvSpPr>
          <p:cNvPr id="8" name="Text 6"/>
          <p:cNvSpPr txBox="1"/>
          <p:nvPr/>
        </p:nvSpPr>
        <p:spPr>
          <a:xfrm>
            <a:off x="640080" y="4677878"/>
            <a:ext cx="2355047" cy="1037122"/>
          </a:xfrm>
          <a:prstGeom prst="rect">
            <a:avLst/>
          </a:prstGeom>
          <a:noFill/>
          <a:ln/>
        </p:spPr>
        <p:txBody>
          <a:bodyPr wrap="square" lIns="0" tIns="0" rIns="0" bIns="0" rtlCol="0" anchor="t"/>
          <a:lstStyle/>
          <a:p>
            <a:pPr marL="0" indent="0">
              <a:buNone/>
            </a:pPr>
            <a:r>
              <a:rPr lang="en-US" sz="1100" dirty="0">
                <a:solidFill>
                  <a:schemeClr val="tx2"/>
                </a:solidFill>
              </a:rPr>
              <a:t>References: </a:t>
            </a:r>
          </a:p>
          <a:p>
            <a:pPr marL="171450" indent="-171450">
              <a:buFont typeface="Arial" panose="020B0604020202020204" pitchFamily="34" charset="0"/>
              <a:buChar char="•"/>
            </a:pPr>
            <a:r>
              <a:rPr lang="en-US" sz="1100" dirty="0">
                <a:solidFill>
                  <a:schemeClr val="tx2"/>
                </a:solidFill>
              </a:rPr>
              <a:t>Schmidt et al. (WESAD, 2018) </a:t>
            </a:r>
          </a:p>
          <a:p>
            <a:pPr marL="171450" indent="-171450">
              <a:buFont typeface="Arial" panose="020B0604020202020204" pitchFamily="34" charset="0"/>
              <a:buChar char="•"/>
            </a:pPr>
            <a:r>
              <a:rPr lang="en-US" sz="1100" dirty="0">
                <a:solidFill>
                  <a:schemeClr val="tx2"/>
                </a:solidFill>
              </a:rPr>
              <a:t>Calvo et al. (QoL_Stress, 2026) </a:t>
            </a:r>
          </a:p>
          <a:p>
            <a:pPr marL="171450" indent="-171450">
              <a:buFont typeface="Arial" panose="020B0604020202020204" pitchFamily="34" charset="0"/>
              <a:buChar char="•"/>
            </a:pPr>
            <a:r>
              <a:rPr lang="en-US" sz="1100" dirty="0">
                <a:solidFill>
                  <a:schemeClr val="tx2"/>
                </a:solidFill>
              </a:rPr>
              <a:t>Pedregosa et al. (scikit-learn, 2011) </a:t>
            </a:r>
          </a:p>
          <a:p>
            <a:pPr marL="171450" indent="-171450">
              <a:buFont typeface="Arial" panose="020B0604020202020204" pitchFamily="34" charset="0"/>
              <a:buChar char="•"/>
            </a:pPr>
            <a:r>
              <a:rPr lang="en-US" sz="1100" dirty="0" err="1">
                <a:solidFill>
                  <a:schemeClr val="tx2"/>
                </a:solidFill>
              </a:rPr>
              <a:t>Breiman</a:t>
            </a:r>
            <a:r>
              <a:rPr lang="en-US" sz="1100" dirty="0">
                <a:solidFill>
                  <a:schemeClr val="tx2"/>
                </a:solidFill>
              </a:rPr>
              <a:t> (Random Forests, 2001) </a:t>
            </a:r>
          </a:p>
          <a:p>
            <a:pPr marL="171450" indent="-171450">
              <a:buFont typeface="Arial" panose="020B0604020202020204" pitchFamily="34" charset="0"/>
              <a:buChar char="•"/>
            </a:pPr>
            <a:r>
              <a:rPr lang="en-US" sz="1100" dirty="0">
                <a:solidFill>
                  <a:schemeClr val="tx2"/>
                </a:solidFill>
              </a:rPr>
              <a:t>Friedman (Gradient Boosting, 2001)</a:t>
            </a:r>
            <a:endParaRPr lang="en-US" sz="1100" dirty="0"/>
          </a:p>
        </p:txBody>
      </p:sp>
      <p:sp>
        <p:nvSpPr>
          <p:cNvPr id="25" name="Slide Number Placeholder 0"/>
          <p:cNvSpPr>
            <a:spLocks noGrp="1"/>
          </p:cNvSpPr>
          <p:nvPr>
            <p:ph type="sldNum" sz="quarter" idx="4294967295"/>
          </p:nvPr>
        </p:nvSpPr>
        <p:spPr>
          <a:xfrm>
            <a:off x="10634472" y="642823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Academic Charcoal">
  <a:themeElements>
    <a:clrScheme name="Academic Charcoal">
      <a:dk1>
        <a:srgbClr val="2B2F33"/>
      </a:dk1>
      <a:lt1>
        <a:srgbClr val="F8F8F6"/>
      </a:lt1>
      <a:dk2>
        <a:srgbClr val="5C6166"/>
      </a:dk2>
      <a:lt2>
        <a:srgbClr val="ECEEEC"/>
      </a:lt2>
      <a:accent1>
        <a:srgbClr val="3F6F78"/>
      </a:accent1>
      <a:accent2>
        <a:srgbClr val="C9D6D8"/>
      </a:accent2>
      <a:accent3>
        <a:srgbClr val="8A9A9E"/>
      </a:accent3>
      <a:accent4>
        <a:srgbClr val="B7BFC1"/>
      </a:accent4>
      <a:accent5>
        <a:srgbClr val="5C6166"/>
      </a:accent5>
      <a:accent6>
        <a:srgbClr val="2B2F33"/>
      </a:accent6>
      <a:hlink>
        <a:srgbClr val="3F6F78"/>
      </a:hlink>
      <a:folHlink>
        <a:srgbClr val="5C6166"/>
      </a:folHlink>
    </a:clrScheme>
    <a:fontScheme name="Academic Charco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764</TotalTime>
  <Words>3203</Words>
  <Application>Microsoft Office PowerPoint</Application>
  <PresentationFormat>Widescreen</PresentationFormat>
  <Paragraphs>262</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Academic Charcoal</vt:lpstr>
      <vt:lpstr>Predicting Human Stress Level From Physiological Signals Using Machine Learning</vt:lpstr>
      <vt:lpstr>Problem Statement and Objectives</vt:lpstr>
      <vt:lpstr>Why Three Datasets?</vt:lpstr>
      <vt:lpstr>Overall Methodology: The KDD Process</vt:lpstr>
      <vt:lpstr>KDD Applied to WESAD</vt:lpstr>
      <vt:lpstr>KDD Applied to QoL_Stress</vt:lpstr>
      <vt:lpstr>KDD Applied to Synthetic Data</vt:lpstr>
      <vt:lpstr>Methodology and Experimental Design</vt:lpstr>
      <vt:lpstr>Evaluation Metrics</vt:lpstr>
      <vt:lpstr>Results: WESAD</vt:lpstr>
      <vt:lpstr>Results: QoL_Stress and Synthetic Data</vt:lpstr>
      <vt:lpstr>Limitations and 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Human Stress Level From Physiological Signals Using Machine Learning</dc:title>
  <dc:subject>PptxGenJS Presentation</dc:subject>
  <dc:creator>Yukti Madan</dc:creator>
  <cp:lastModifiedBy>Yukti Madan</cp:lastModifiedBy>
  <cp:revision>4</cp:revision>
  <dcterms:created xsi:type="dcterms:W3CDTF">2026-10-21T16:18:11Z</dcterms:created>
  <dcterms:modified xsi:type="dcterms:W3CDTF">2026-10-22T08:55:01Z</dcterms:modified>
</cp:coreProperties>
</file>